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99832" y="-2194560"/>
            <a:ext cx="5943600" cy="5943600"/>
          </a:xfrm>
          <a:prstGeom prst="ellipse">
            <a:avLst/>
          </a:prstGeom>
          <a:solidFill>
            <a:srgbClr val="21345A"/>
          </a:solidFill>
          <a:ln/>
        </p:spPr>
      </p:sp>
      <p:sp>
        <p:nvSpPr>
          <p:cNvPr id="3" name="Shape 1"/>
          <p:cNvSpPr/>
          <p:nvPr/>
        </p:nvSpPr>
        <p:spPr>
          <a:xfrm>
            <a:off x="10177272" y="4206240"/>
            <a:ext cx="2743200" cy="2743200"/>
          </a:xfrm>
          <a:prstGeom prst="ellipse">
            <a:avLst/>
          </a:prstGeom>
          <a:solidFill>
            <a:srgbClr val="1B2E5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800" kern="0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FFFFF"/>
                </a:solidFill>
              </a:rPr>
              <a:t>SUITS YOU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chain — hoe de keten werkt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A"/>
                </a:solidFill>
              </a:rPr>
              <a:t>Kassa, website en portal: de logica, de workflows en de knoppen die jij beheert.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7935A"/>
                </a:solidFill>
              </a:rPr>
              <a:t>Voor de afdeling supply chain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59070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Voorraad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56232" y="58887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935A"/>
                </a:solidFill>
              </a:rPr>
              <a:t>›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59436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9464" y="59070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Ontvangst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52444" y="58887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935A"/>
                </a:solidFill>
              </a:rPr>
              <a:t>›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492" y="59436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65676" y="59070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Herverdeling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536692" y="58887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935A"/>
                </a:solidFill>
              </a:rPr>
              <a:t>›</a:t>
            </a:r>
            <a:endParaRPr lang="en-US" sz="16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5943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49924" y="59070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Toewijzing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328916" y="58887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935A"/>
                </a:solidFill>
              </a:rPr>
              <a:t>›</a:t>
            </a:r>
            <a:endParaRPr lang="en-US" sz="1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2964" y="594360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42148" y="59070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Instellingen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Jouw plek in de keten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SRS levert de magazijnbasis. De core legt daar élke winkel- en webmutatie realtime overheen. Jij bestuurt de regels.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05740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F1E8D6"/>
          </a:solidFill>
          <a:ln w="12700">
            <a:solidFill>
              <a:srgbClr val="B7935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32257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16712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98448" y="255117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magazijn (WMS)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40080" y="342900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F1E8D6"/>
          </a:solidFill>
          <a:ln w="12700">
            <a:solidFill>
              <a:srgbClr val="B7935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69417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53872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Zendingen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98448" y="3922776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leverancier / winkel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40080" y="2999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7488"/>
                </a:solidFill>
              </a:rPr>
              <a:t>bruto voorraad per filiaal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40080" y="4370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7488"/>
                </a:solidFill>
              </a:rPr>
              <a:t>telt pas mee ná de scan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063240" y="2514600"/>
            <a:ext cx="731520" cy="68580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3063240" y="3886200"/>
            <a:ext cx="731520" cy="-68580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3886200" y="237744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27000" dist="38100" dir="5400000">
              <a:srgbClr val="16243F">
                <a:alpha val="2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272" y="2606040"/>
            <a:ext cx="585216" cy="585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88620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Voorraad-core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3886200" y="36118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EEA"/>
                </a:solidFill>
              </a:rPr>
              <a:t>één grootboek · één getal voor iedereen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595360" y="1783080"/>
            <a:ext cx="29535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1628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4" y="2002536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253728" y="1892808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9253728" y="2231136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belooft levertijd + reserveert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7955280" y="3246120"/>
            <a:ext cx="548640" cy="-1051560"/>
          </a:xfrm>
          <a:prstGeom prst="line">
            <a:avLst/>
          </a:prstGeom>
          <a:noFill/>
          <a:ln w="28575">
            <a:solidFill>
              <a:srgbClr val="31628F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8595360" y="2834640"/>
            <a:ext cx="29535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1628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4" y="3054096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253728" y="2944368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Kassa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9253728" y="3282696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verkoop, retour, apart leggen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7955280" y="3246120"/>
            <a:ext cx="548640" cy="0"/>
          </a:xfrm>
          <a:prstGeom prst="line">
            <a:avLst/>
          </a:prstGeom>
          <a:noFill/>
          <a:ln w="28575">
            <a:solidFill>
              <a:srgbClr val="31628F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8595360" y="3886200"/>
            <a:ext cx="29535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1628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4" y="4105656"/>
            <a:ext cx="384048" cy="38404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253728" y="3995928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Handscanner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9253728" y="4334256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picken, ontvangen, tellen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7955280" y="3246120"/>
            <a:ext cx="548640" cy="1051560"/>
          </a:xfrm>
          <a:prstGeom prst="line">
            <a:avLst/>
          </a:prstGeom>
          <a:noFill/>
          <a:ln w="28575">
            <a:solidFill>
              <a:srgbClr val="31628F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640080" y="5074920"/>
            <a:ext cx="10908792" cy="731520"/>
          </a:xfrm>
          <a:prstGeom prst="roundRect">
            <a:avLst>
              <a:gd name="adj" fmla="val 11250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5276088"/>
            <a:ext cx="329184" cy="32918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353312" y="507492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</a:rPr>
              <a:t>De portal is jouw stuurhut: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werklijsten (ontvangst, niet leverbaar, retour), dashboards (nauwkeurigheid, miss-rate, drift) en álle instellingen — zonder tussenkomst van een ontwikkelaar.</a:t>
            </a:r>
            <a:endParaRPr lang="en-US" sz="1150" dirty="0"/>
          </a:p>
        </p:txBody>
      </p:sp>
      <p:sp>
        <p:nvSpPr>
          <p:cNvPr id="42" name="Text 32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Kassa, site en scanner schrijven naar dezelfde core; jij stelt de regels in waarmee die core rekent.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betekent 'beschikbaar'?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Eén formule, overal hetzelfde — op de site, aan de kassa en op de scanner.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62456" y="1874520"/>
            <a:ext cx="2057400" cy="960120"/>
          </a:xfrm>
          <a:prstGeom prst="roundRect">
            <a:avLst>
              <a:gd name="adj" fmla="val 8571"/>
            </a:avLst>
          </a:prstGeom>
          <a:solidFill>
            <a:srgbClr val="F1E8D6"/>
          </a:solidFill>
          <a:ln w="12700">
            <a:solidFill>
              <a:srgbClr val="B793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90472" y="19842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SRS-baseline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490472" y="2391156"/>
            <a:ext cx="18013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magazijn + winkels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419856" y="1874520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3831336" y="1874520"/>
            <a:ext cx="2057400" cy="960120"/>
          </a:xfrm>
          <a:prstGeom prst="roundRect">
            <a:avLst>
              <a:gd name="adj" fmla="val 8571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59352" y="19842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Kassa-delta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959352" y="2391156"/>
            <a:ext cx="18013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verkoop / retour / correctie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888736" y="1874520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4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6300216" y="1874520"/>
            <a:ext cx="2057400" cy="960120"/>
          </a:xfrm>
          <a:prstGeom prst="roundRect">
            <a:avLst>
              <a:gd name="adj" fmla="val 8571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19842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Web-reservering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28232" y="2391156"/>
            <a:ext cx="18013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lopende orders + holds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357616" y="1874520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4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8769096" y="1874520"/>
            <a:ext cx="2057400" cy="960120"/>
          </a:xfrm>
          <a:prstGeom prst="roundRect">
            <a:avLst>
              <a:gd name="adj" fmla="val 8571"/>
            </a:avLst>
          </a:prstGeom>
          <a:solidFill>
            <a:srgbClr val="FBE7E7"/>
          </a:solidFill>
          <a:ln w="12700">
            <a:solidFill>
              <a:srgbClr val="B445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97112" y="19842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Veiligheids-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voorraad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897112" y="2391156"/>
            <a:ext cx="18013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budget per artikel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94476" y="2880360"/>
            <a:ext cx="0" cy="365760"/>
          </a:xfrm>
          <a:prstGeom prst="line">
            <a:avLst/>
          </a:prstGeom>
          <a:noFill/>
          <a:ln w="28575">
            <a:solidFill>
              <a:srgbClr val="16243F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2103120" y="3291840"/>
            <a:ext cx="7982712" cy="868680"/>
          </a:xfrm>
          <a:prstGeom prst="roundRect">
            <a:avLst>
              <a:gd name="adj" fmla="val 10526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14300" dist="38100" dir="5400000">
              <a:srgbClr val="16243F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103120" y="3401568"/>
            <a:ext cx="7982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BESCHIKBAAR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2103120" y="3749040"/>
            <a:ext cx="7982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EEA"/>
                </a:solidFill>
              </a:rPr>
              <a:t>per artikel, per locatie — het getal dat de klant ziet en de kassier verkoopt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40080" y="443484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654296"/>
            <a:ext cx="420624" cy="42062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426464" y="4617720"/>
            <a:ext cx="2508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Onderweg telt niet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877824" y="5184648"/>
            <a:ext cx="2947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Een zending die gepickt of onderweg is verhoogt niets. De voorraad ontstaat pas bij de ontvangst-scan — geen fantoomvoorraad.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383024" y="443484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768" y="4654296"/>
            <a:ext cx="420624" cy="42062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169408" y="4617720"/>
            <a:ext cx="2508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Nooit dubbel geboekt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4620768" y="5184648"/>
            <a:ext cx="2947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Elke mutatie is idempotent op (ref, kanaal, artikel). Een offline kassa die later synchroniseert boekt dezelfde bon niet twee keer.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125968" y="443484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712" y="4654296"/>
            <a:ext cx="420624" cy="42062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912352" y="4617720"/>
            <a:ext cx="2508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Zelfherstellend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8363712" y="5184648"/>
            <a:ext cx="2947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Zodra SRS de mutatie zelf verwerkt heeft, valt de delta uit de som. Een gemiste sync corrigeert bij de volgende ronde.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Site, kassa en scanner rekenen niet ieder hun eigen som — ze lezen dezelfde uitkomst.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Veiligheidsvoorraad — een budget per artikel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Niet 2 per maat per winkel, maar 2 stuks per artikel over álle winkels samen.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63093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192024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43F"/>
                </a:solidFill>
              </a:rPr>
              <a:t>Eén artikel = artikelnummer + kleur, met de hele maatboog eronder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2331720"/>
            <a:ext cx="1049731" cy="914400"/>
          </a:xfrm>
          <a:prstGeom prst="roundRect">
            <a:avLst>
              <a:gd name="adj" fmla="val 7000"/>
            </a:avLst>
          </a:prstGeom>
          <a:solidFill>
            <a:srgbClr val="FBE7E7"/>
          </a:solidFill>
          <a:ln w="12700">
            <a:solidFill>
              <a:srgbClr val="B445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395728"/>
            <a:ext cx="10497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14400" y="2816352"/>
            <a:ext cx="10497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Almere · 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005840" y="3291840"/>
            <a:ext cx="866851" cy="237744"/>
          </a:xfrm>
          <a:prstGeom prst="roundRect">
            <a:avLst>
              <a:gd name="adj" fmla="val 50000"/>
            </a:avLst>
          </a:prstGeom>
          <a:solidFill>
            <a:srgbClr val="B4453C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291840"/>
            <a:ext cx="8668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 vast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092147" y="2331720"/>
            <a:ext cx="1049731" cy="914400"/>
          </a:xfrm>
          <a:prstGeom prst="roundRect">
            <a:avLst>
              <a:gd name="adj" fmla="val 7000"/>
            </a:avLst>
          </a:prstGeom>
          <a:solidFill>
            <a:srgbClr val="FBE7E7"/>
          </a:solidFill>
          <a:ln w="12700">
            <a:solidFill>
              <a:srgbClr val="B4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92147" y="2395728"/>
            <a:ext cx="10497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092147" y="2816352"/>
            <a:ext cx="10497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Utrecht · L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183587" y="3291840"/>
            <a:ext cx="866851" cy="237744"/>
          </a:xfrm>
          <a:prstGeom prst="roundRect">
            <a:avLst>
              <a:gd name="adj" fmla="val 50000"/>
            </a:avLst>
          </a:prstGeom>
          <a:solidFill>
            <a:srgbClr val="B4453C"/>
          </a:solidFill>
          <a:ln/>
        </p:spPr>
      </p:sp>
      <p:sp>
        <p:nvSpPr>
          <p:cNvPr id="19" name="Text 16"/>
          <p:cNvSpPr/>
          <p:nvPr/>
        </p:nvSpPr>
        <p:spPr>
          <a:xfrm>
            <a:off x="2183587" y="3291840"/>
            <a:ext cx="8668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 vast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269894" y="2331720"/>
            <a:ext cx="1049731" cy="91440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69894" y="2395728"/>
            <a:ext cx="10497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3269894" y="2816352"/>
            <a:ext cx="10497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Breda · 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447642" y="2331720"/>
            <a:ext cx="1049731" cy="91440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47642" y="2395728"/>
            <a:ext cx="10497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447642" y="2816352"/>
            <a:ext cx="10497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Zwolle · XL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625389" y="2331720"/>
            <a:ext cx="1049731" cy="91440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25389" y="2395728"/>
            <a:ext cx="10497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625389" y="2816352"/>
            <a:ext cx="10497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Magazijn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914400" y="3657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Het budget van 2 gaat naar de DUNSTE regels: daar zit het risico (displaystuk, mistelling). De diepte blijft online verkoopbaar.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269480" y="1783080"/>
            <a:ext cx="4279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52360" y="178308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43F"/>
                </a:solidFill>
              </a:rPr>
              <a:t>Winkels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497312" y="17830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7452360" y="205740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stuks per artikel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269480" y="2468880"/>
            <a:ext cx="4279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52360" y="246888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43F"/>
                </a:solidFill>
              </a:rPr>
              <a:t>Magazijn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497312" y="24688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7452360" y="274320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geen marge nodig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7269480" y="3154680"/>
            <a:ext cx="4279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52360" y="315468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43F"/>
                </a:solidFill>
              </a:rPr>
              <a:t>Winkelkanaal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0497312" y="31546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7452360" y="342900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kassa + onderling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269480" y="3886200"/>
            <a:ext cx="42793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4" y="4105656"/>
            <a:ext cx="420624" cy="42062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8055864" y="4069080"/>
            <a:ext cx="3364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Tekort-bescherming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7507224" y="463600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Onder haar eigen minimum levert een winkel geen weborder.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640080" y="512064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BF1DD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344668"/>
            <a:ext cx="329184" cy="329184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1353312" y="512064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43F"/>
                </a:solidFill>
              </a:rPr>
              <a:t>Waarom dit veranderd is: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 marge werd eerst van élke (winkel, maat)-regel afgetrokken. Dat hield 44.855 van de 55.999 stuks winkelvoorraad vast (80%) en zette 262 producten met voorraad online op uitverkocht.</a:t>
            </a:r>
            <a:endParaRPr lang="en-US" sz="1100" dirty="0"/>
          </a:p>
        </p:txBody>
      </p:sp>
      <p:sp>
        <p:nvSpPr>
          <p:cNvPr id="49" name="Text 44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Web en winkel hebben een eigen marge: online koop je op afstand, in de winkel heb je het artikel in je handen.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levert de weborder?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De toewijzing loopt een vaste ladder af — pas als een stap niet lukt, zakt hij naar de volgende.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6309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" y="1920240"/>
            <a:ext cx="329184" cy="329184"/>
          </a:xfrm>
          <a:prstGeom prst="ellipse">
            <a:avLst/>
          </a:prstGeom>
          <a:solidFill>
            <a:srgbClr val="16243F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07008" y="1783080"/>
            <a:ext cx="5596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Compleet vanaf één locatie  </a:t>
            </a:r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— scheelt een tweede pakket en een tweede pickronde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2478024"/>
            <a:ext cx="6309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615184"/>
            <a:ext cx="329184" cy="329184"/>
          </a:xfrm>
          <a:prstGeom prst="ellipse">
            <a:avLst/>
          </a:prstGeom>
          <a:solidFill>
            <a:srgbClr val="B7935A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07008" y="2478024"/>
            <a:ext cx="5596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Magazijn eerst  </a:t>
            </a:r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— winkelvoorraad bewaren we voor de winkelklant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172968"/>
            <a:ext cx="6309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8096" y="3310128"/>
            <a:ext cx="329184" cy="329184"/>
          </a:xfrm>
          <a:prstGeom prst="ellipse">
            <a:avLst/>
          </a:prstGeom>
          <a:solidFill>
            <a:srgbClr val="16243F"/>
          </a:solidFill>
          <a:ln/>
        </p:spPr>
      </p:sp>
      <p:sp>
        <p:nvSpPr>
          <p:cNvPr id="18" name="Text 15"/>
          <p:cNvSpPr/>
          <p:nvPr/>
        </p:nvSpPr>
        <p:spPr>
          <a:xfrm>
            <a:off x="768096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07008" y="3172968"/>
            <a:ext cx="5596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Meerdere kandidaten?  </a:t>
            </a:r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— de locatie met de meeste voorraad wint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0080" y="3867912"/>
            <a:ext cx="6309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8096" y="4005072"/>
            <a:ext cx="329184" cy="329184"/>
          </a:xfrm>
          <a:prstGeom prst="ellipse">
            <a:avLst/>
          </a:prstGeom>
          <a:solidFill>
            <a:srgbClr val="16243F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207008" y="3867912"/>
            <a:ext cx="5596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Niet compleet?  </a:t>
            </a:r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— zo min mogelijk splitsen, magazijn + diepte eerst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" y="4562856"/>
            <a:ext cx="6309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8096" y="4700016"/>
            <a:ext cx="329184" cy="329184"/>
          </a:xfrm>
          <a:prstGeom prst="ellipse">
            <a:avLst/>
          </a:prstGeom>
          <a:solidFill>
            <a:srgbClr val="16243F"/>
          </a:solidFill>
          <a:ln/>
        </p:spPr>
      </p:sp>
      <p:sp>
        <p:nvSpPr>
          <p:cNvPr id="26" name="Text 23"/>
          <p:cNvSpPr/>
          <p:nvPr/>
        </p:nvSpPr>
        <p:spPr>
          <a:xfrm>
            <a:off x="768096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207008" y="4562856"/>
            <a:ext cx="5596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Open en vóór cutoff  </a:t>
            </a:r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— een dichte winkel of feestdag schuift naar de eerste verzenddag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269480" y="173736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En verder houdt hij rekening met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269480" y="2084832"/>
            <a:ext cx="4279392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784" y="2203704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744968" y="2084832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Pak-sets blijven bij elkaar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7269480" y="2651760"/>
            <a:ext cx="4279392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84" y="2770632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744968" y="2651760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Gepauzeerd filiaal wordt overgeslagen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7269480" y="3218688"/>
            <a:ext cx="4279392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3337560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744968" y="3218688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Onderbevoorrade winkel beschermd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269480" y="3785616"/>
            <a:ext cx="4279392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3904488"/>
            <a:ext cx="237744" cy="23774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744968" y="3785616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België → bij voorkeur Antwerpen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7269480" y="4352544"/>
            <a:ext cx="4279392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4471416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744968" y="4352544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Overstock-eerst (optie, uit)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640080" y="534924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5541264"/>
            <a:ext cx="329184" cy="32918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353312" y="5349240"/>
            <a:ext cx="9994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</a:rPr>
              <a:t>Zelf doorrekenen: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in de portal zie je met “waar gaat deze order heen?” precies welke locatie(s) zouden leveren, hoe hij splitst en welke tekorten er zijn — zonder dat er iets geboekt wordt.</a:t>
            </a:r>
            <a:endParaRPr lang="en-US" sz="1150" dirty="0"/>
          </a:p>
        </p:txBody>
      </p:sp>
      <p:sp>
        <p:nvSpPr>
          <p:cNvPr id="47" name="Text 38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Dezelfde ladder bepaalt de levertijd die de klant vooraf te zien krijgt.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Cutoffs, verzenddagen en beloftes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Eén definitie voedt zowel de belofte aan de klant als de pick-deadline in de winkel.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529437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93852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9888" y="1901952"/>
            <a:ext cx="4379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 hoe laat kan het weg?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914400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Magazijn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743200" y="2468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935A"/>
                </a:solidFill>
              </a:rPr>
              <a:t>17:00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114800" y="2468880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vrijdag 16:00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914400" y="2852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Winkels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743200" y="2852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935A"/>
                </a:solidFill>
              </a:rPr>
              <a:t>17:00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114800" y="2852928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vrijdag 17:00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914400" y="3236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Per filiaal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0" y="32369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935A"/>
                </a:solidFill>
              </a:rPr>
              <a:t>eigen uur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114800" y="3236976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afwijkende ophaaltijd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914400" y="3621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Winkel-plafond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2743200" y="36210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935A"/>
                </a:solidFill>
              </a:rPr>
              <a:t>sluitingstijd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114800" y="3621024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min de overdrachtsmarge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254496" y="1783080"/>
            <a:ext cx="529437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38528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04304" y="1901952"/>
            <a:ext cx="4379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 welke dagen vertrekt er iets?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528816" y="2468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Zondag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9454896" y="2468880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453C"/>
                </a:solidFill>
              </a:rPr>
              <a:t>nee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528816" y="28529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Zaterdag — winkels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9454896" y="2852928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F6B"/>
                </a:solidFill>
              </a:rPr>
              <a:t>ja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528816" y="32369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Zaterdag — magazijn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9454896" y="3236976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453C"/>
                </a:solidFill>
              </a:rPr>
              <a:t>nee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528816" y="36210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Feestdagen NL/BE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9454896" y="362102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488"/>
                </a:solidFill>
              </a:rPr>
              <a:t>automatisch per jaar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40080" y="4206240"/>
            <a:ext cx="342290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425696"/>
            <a:ext cx="420624" cy="42062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426464" y="4389120"/>
            <a:ext cx="2508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 sluitingsdagen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877824" y="4956048"/>
            <a:ext cx="2947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Bedrijfssluiting of inventarisatie: zet de datum erbij, dan belooft de site niets.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4383024" y="4206240"/>
            <a:ext cx="342290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0768" y="4425696"/>
            <a:ext cx="420624" cy="42062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169408" y="4389120"/>
            <a:ext cx="2508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Filiaal pauzeren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4620768" y="4956048"/>
            <a:ext cx="2947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Verbouwing of onderbezetting: de winkel krijgt tijdelijk geen orders.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8125968" y="4206240"/>
            <a:ext cx="342290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3712" y="4425696"/>
            <a:ext cx="420624" cy="42062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912352" y="4389120"/>
            <a:ext cx="2508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Pick-deadline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8363712" y="4956048"/>
            <a:ext cx="2947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De winkel ziet “vandaag 17:00”; oranje onder 2 uur, rood als hij voorbij is.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640080" y="5650992"/>
            <a:ext cx="10908792" cy="548640"/>
          </a:xfrm>
          <a:prstGeom prst="roundRect">
            <a:avLst>
              <a:gd name="adj" fmla="val 15000"/>
            </a:avLst>
          </a:prstGeom>
          <a:solidFill>
            <a:srgbClr val="FBF1DD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5760720"/>
            <a:ext cx="329184" cy="32918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353312" y="5650992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Let op: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een te ruime cutoff belooft “vandaag verzonden” op een moment dat er niets meer vertrekt. Zet hier het échte ophaalmoment neer.</a:t>
            </a:r>
            <a:endParaRPr lang="en-US" sz="1050" dirty="0"/>
          </a:p>
        </p:txBody>
      </p:sp>
      <p:sp>
        <p:nvSpPr>
          <p:cNvPr id="49" name="Text 40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Levertijd = verzenddag + transit; uit een winkel rekent hij standaard één dag extra.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Goederenontvangst — scan-to-receive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Voorraad ontstaat bij de scan, niet bij de pakbon. Onderweg telt bij niemand mee.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2880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16255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19385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Aangemeld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98448" y="2391156"/>
            <a:ext cx="154533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verwachte regels (ASN)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1051560" y="297180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667488"/>
          </a:solidFill>
          <a:ln/>
        </p:spPr>
      </p:sp>
      <p:sp>
        <p:nvSpPr>
          <p:cNvPr id="13" name="Text 9"/>
          <p:cNvSpPr/>
          <p:nvPr/>
        </p:nvSpPr>
        <p:spPr>
          <a:xfrm>
            <a:off x="1051560" y="2971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gepickt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008376" y="2354580"/>
            <a:ext cx="454152" cy="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499104" y="182880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BF1DD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408" y="216255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57472" y="19385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Onderweg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157472" y="2391156"/>
            <a:ext cx="154533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telt NIET mee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910584" y="297180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20" name="Text 15"/>
          <p:cNvSpPr/>
          <p:nvPr/>
        </p:nvSpPr>
        <p:spPr>
          <a:xfrm>
            <a:off x="3910584" y="2971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onderweg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867400" y="2354580"/>
            <a:ext cx="454152" cy="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358128" y="182880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432" y="216255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16496" y="19385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Scannen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016496" y="2391156"/>
            <a:ext cx="154533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steekproefplan vastgezet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769608" y="297180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31628F"/>
          </a:solidFill>
          <a:ln/>
        </p:spPr>
      </p:sp>
      <p:sp>
        <p:nvSpPr>
          <p:cNvPr id="27" name="Text 21"/>
          <p:cNvSpPr/>
          <p:nvPr/>
        </p:nvSpPr>
        <p:spPr>
          <a:xfrm>
            <a:off x="6769608" y="2971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bezig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8726424" y="2354580"/>
            <a:ext cx="454152" cy="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9217152" y="182880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E3F1EB"/>
          </a:solidFill>
          <a:ln w="12700">
            <a:solidFill>
              <a:srgbClr val="2F8F6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6" y="2162556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875520" y="19385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Voorraad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9875520" y="2391156"/>
            <a:ext cx="154533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telt NU mee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628632" y="297180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2F8F6B"/>
          </a:solidFill>
          <a:ln/>
        </p:spPr>
      </p:sp>
      <p:sp>
        <p:nvSpPr>
          <p:cNvPr id="34" name="Text 27"/>
          <p:cNvSpPr/>
          <p:nvPr/>
        </p:nvSpPr>
        <p:spPr>
          <a:xfrm>
            <a:off x="9628632" y="2971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ontvangen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40080" y="3520440"/>
            <a:ext cx="5294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3739896"/>
            <a:ext cx="420624" cy="42062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426464" y="3703320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Tellen (de normale weg)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877824" y="427024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Scannen tegen de verwachte regels. Alleen wat écht geteld is wordt geboekt — het ontbrekende stuk wordt nooit toegevoegd. Afwijkingen gaan naar jouw werklijst.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254496" y="3520440"/>
            <a:ext cx="5294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739896"/>
            <a:ext cx="420624" cy="42062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040880" y="3703320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Alles binnenmelden (blind)</a:t>
            </a:r>
            <a:endParaRPr lang="en-US" sz="1350" dirty="0"/>
          </a:p>
        </p:txBody>
      </p:sp>
      <p:sp>
        <p:nvSpPr>
          <p:cNvPr id="42" name="Text 33"/>
          <p:cNvSpPr/>
          <p:nvPr/>
        </p:nvSpPr>
        <p:spPr>
          <a:xfrm>
            <a:off x="6492240" y="427024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Geen tijd om te tellen? Dan boekt hij de verwachte aantallen. Bewust géén afwijkingen: er is niet geteld, dus er is ook geen manco-signaal.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640080" y="5074920"/>
            <a:ext cx="10908792" cy="685800"/>
          </a:xfrm>
          <a:prstGeom prst="roundRect">
            <a:avLst>
              <a:gd name="adj" fmla="val 12000"/>
            </a:avLst>
          </a:prstGeom>
          <a:solidFill>
            <a:srgbClr val="FBE7E7"/>
          </a:solidFill>
          <a:ln w="12700">
            <a:solidFill>
              <a:srgbClr val="B4453C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5253228"/>
            <a:ext cx="329184" cy="32918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353312" y="507492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</a:rPr>
              <a:t>Beschadigd of verkeerd geleverd?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Meld het bij de scan. Die stuks gaan in quarantaine — ze worden niet als verkoopbare voorraad geboekt, ook niet bij blind binnenmelden.</a:t>
            </a:r>
            <a:endParaRPr lang="en-US" sz="1150" dirty="0"/>
          </a:p>
        </p:txBody>
      </p:sp>
      <p:sp>
        <p:nvSpPr>
          <p:cNvPr id="46" name="Shape 36"/>
          <p:cNvSpPr/>
          <p:nvPr/>
        </p:nvSpPr>
        <p:spPr>
          <a:xfrm>
            <a:off x="640080" y="5806440"/>
            <a:ext cx="10908792" cy="457200"/>
          </a:xfrm>
          <a:prstGeom prst="roundRect">
            <a:avLst>
              <a:gd name="adj" fmla="val 18000"/>
            </a:avLst>
          </a:prstGeom>
          <a:solidFill>
            <a:srgbClr val="EEF2F8"/>
          </a:solidFill>
          <a:ln w="12700">
            <a:solidFill>
              <a:srgbClr val="D6DEEA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5870448"/>
            <a:ext cx="329184" cy="32918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353312" y="580644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Overdracht naar SRS: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 ontvangst-delta overbrugt het gat tot SRS de Receive zelf verwerkt heeft; daarna valt hij uit de som — nooit dubbel geteld.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Dezelfde flow geldt voor magazijn-aanvullingen, leveranciers én winkel-naar-winkel.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slimme steekproef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Niet alles tellen, wél altijd het risico tellen — en het systeem leert per leverancier.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243F"/>
                </a:solidFill>
              </a:rPr>
              <a:t>ALTIJD 100% TELLEN BIJ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1938528"/>
            <a:ext cx="2521458" cy="841248"/>
          </a:xfrm>
          <a:prstGeom prst="roundRect">
            <a:avLst>
              <a:gd name="adj" fmla="val 9783"/>
            </a:avLst>
          </a:prstGeom>
          <a:solidFill>
            <a:srgbClr val="F1E8D6"/>
          </a:solidFill>
          <a:ln w="12700">
            <a:solidFill>
              <a:srgbClr val="B7935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16712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2048256"/>
            <a:ext cx="1735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Kleine partij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98448" y="2395728"/>
            <a:ext cx="1735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≤ 20 stuks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435858" y="1938528"/>
            <a:ext cx="2521458" cy="841248"/>
          </a:xfrm>
          <a:prstGeom prst="roundRect">
            <a:avLst>
              <a:gd name="adj" fmla="val 9783"/>
            </a:avLst>
          </a:prstGeom>
          <a:solidFill>
            <a:srgbClr val="F1E8D6"/>
          </a:solidFill>
          <a:ln w="12700">
            <a:solidFill>
              <a:srgbClr val="B7935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162" y="216712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94226" y="2048256"/>
            <a:ext cx="1735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Nieuwe bron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094226" y="2395728"/>
            <a:ext cx="1735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&lt; 3 ontvangsten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231636" y="1938528"/>
            <a:ext cx="2521458" cy="841248"/>
          </a:xfrm>
          <a:prstGeom prst="roundRect">
            <a:avLst>
              <a:gd name="adj" fmla="val 9783"/>
            </a:avLst>
          </a:prstGeom>
          <a:solidFill>
            <a:srgbClr val="F1E8D6"/>
          </a:solidFill>
          <a:ln w="12700">
            <a:solidFill>
              <a:srgbClr val="B7935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16712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90004" y="2048256"/>
            <a:ext cx="1735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 met manco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890004" y="2395728"/>
            <a:ext cx="1735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≥ 10% afwijking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9027414" y="1938528"/>
            <a:ext cx="2521458" cy="841248"/>
          </a:xfrm>
          <a:prstGeom prst="roundRect">
            <a:avLst>
              <a:gd name="adj" fmla="val 9783"/>
            </a:avLst>
          </a:prstGeom>
          <a:solidFill>
            <a:srgbClr val="F1E8D6"/>
          </a:solidFill>
          <a:ln w="12700">
            <a:solidFill>
              <a:srgbClr val="B7935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3718" y="2167128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85782" y="2048256"/>
            <a:ext cx="1735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Hoge waarde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685782" y="2395728"/>
            <a:ext cx="1735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≥ € 150 per stuk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243F"/>
                </a:solidFill>
              </a:rPr>
              <a:t>ANDERS — STEEKPROEF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40080" y="3200400"/>
            <a:ext cx="529437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3419856"/>
            <a:ext cx="420624" cy="42062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26464" y="3383280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Verplicht: probleemartikelen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877824" y="3950208"/>
            <a:ext cx="4818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Artikelen die in 180 dagen ≥ 2× manco kwamen én in ≥ 15% van de gevallen — die tellen we altijd.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254496" y="3200400"/>
            <a:ext cx="529437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419856"/>
            <a:ext cx="420624" cy="42062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40880" y="3383280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Aanvullen: waarde-gewogen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6492240" y="3950208"/>
            <a:ext cx="4818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Tot n = max(8 regels; 1,5 × √regels × bron-vertrouwen), de duurste regels eerst.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640080" y="4526280"/>
            <a:ext cx="5294376" cy="731520"/>
          </a:xfrm>
          <a:prstGeom prst="roundRect">
            <a:avLst>
              <a:gd name="adj" fmla="val 11250"/>
            </a:avLst>
          </a:prstGeom>
          <a:solidFill>
            <a:srgbClr val="E3F1EB"/>
          </a:solidFill>
          <a:ln w="12700">
            <a:solidFill>
              <a:srgbClr val="2F8F6B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4700016"/>
            <a:ext cx="384048" cy="38404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298448" y="463600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Weinig afwijkingen → accepteren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1298448" y="4928616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de niet-getelde regels boeken op verwacht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6254496" y="4526280"/>
            <a:ext cx="5294376" cy="731520"/>
          </a:xfrm>
          <a:prstGeom prst="roundRect">
            <a:avLst>
              <a:gd name="adj" fmla="val 11250"/>
            </a:avLst>
          </a:prstGeom>
          <a:solidFill>
            <a:srgbClr val="FBE7E7"/>
          </a:solidFill>
          <a:ln w="12700">
            <a:solidFill>
              <a:srgbClr val="B4453C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700016"/>
            <a:ext cx="384048" cy="38404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912864" y="463600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 veel → tel de hele levering</a:t>
            </a:r>
            <a:endParaRPr lang="en-US" sz="1300" dirty="0"/>
          </a:p>
        </p:txBody>
      </p:sp>
      <p:sp>
        <p:nvSpPr>
          <p:cNvPr id="41" name="Text 30"/>
          <p:cNvSpPr/>
          <p:nvPr/>
        </p:nvSpPr>
        <p:spPr>
          <a:xfrm>
            <a:off x="6912864" y="4928616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de zending schiet naar 100%, nog niets geboekt</a:t>
            </a:r>
            <a:endParaRPr lang="en-US" sz="950" dirty="0"/>
          </a:p>
        </p:txBody>
      </p:sp>
      <p:sp>
        <p:nvSpPr>
          <p:cNvPr id="42" name="Text 31"/>
          <p:cNvSpPr/>
          <p:nvPr/>
        </p:nvSpPr>
        <p:spPr>
          <a:xfrm>
            <a:off x="640080" y="52852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67488"/>
                </a:solidFill>
              </a:rPr>
              <a:t>Grens: 2,5% van de getelde regels (afgerond naar beneden).</a:t>
            </a:r>
            <a:endParaRPr lang="en-US" sz="950" dirty="0"/>
          </a:p>
        </p:txBody>
      </p:sp>
      <p:sp>
        <p:nvSpPr>
          <p:cNvPr id="43" name="Shape 32"/>
          <p:cNvSpPr/>
          <p:nvPr/>
        </p:nvSpPr>
        <p:spPr>
          <a:xfrm>
            <a:off x="640080" y="5623560"/>
            <a:ext cx="25557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768096" y="5660136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Nieuw</a:t>
            </a:r>
            <a:endParaRPr lang="en-US" sz="1050" dirty="0"/>
          </a:p>
        </p:txBody>
      </p:sp>
      <p:sp>
        <p:nvSpPr>
          <p:cNvPr id="45" name="Text 34"/>
          <p:cNvSpPr/>
          <p:nvPr/>
        </p:nvSpPr>
        <p:spPr>
          <a:xfrm>
            <a:off x="768096" y="5916168"/>
            <a:ext cx="22997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alles tellen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3214116" y="571500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935A"/>
                </a:solidFill>
              </a:rPr>
              <a:t>›</a:t>
            </a:r>
            <a:endParaRPr lang="en-US" sz="1400" dirty="0"/>
          </a:p>
        </p:txBody>
      </p:sp>
      <p:sp>
        <p:nvSpPr>
          <p:cNvPr id="47" name="Shape 36"/>
          <p:cNvSpPr/>
          <p:nvPr/>
        </p:nvSpPr>
        <p:spPr>
          <a:xfrm>
            <a:off x="3424428" y="5623560"/>
            <a:ext cx="25557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667488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3552444" y="5660136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Normaal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3552444" y="5916168"/>
            <a:ext cx="22997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gewone steekproef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5998464" y="571500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935A"/>
                </a:solidFill>
              </a:rPr>
              <a:t>›</a:t>
            </a:r>
            <a:endParaRPr lang="en-US" sz="1400" dirty="0"/>
          </a:p>
        </p:txBody>
      </p:sp>
      <p:sp>
        <p:nvSpPr>
          <p:cNvPr id="51" name="Shape 40"/>
          <p:cNvSpPr/>
          <p:nvPr/>
        </p:nvSpPr>
        <p:spPr>
          <a:xfrm>
            <a:off x="6208776" y="5623560"/>
            <a:ext cx="25557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6336792" y="5660136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Betrouwbaar</a:t>
            </a:r>
            <a:endParaRPr lang="en-US" sz="1050" dirty="0"/>
          </a:p>
        </p:txBody>
      </p:sp>
      <p:sp>
        <p:nvSpPr>
          <p:cNvPr id="53" name="Text 42"/>
          <p:cNvSpPr/>
          <p:nvPr/>
        </p:nvSpPr>
        <p:spPr>
          <a:xfrm>
            <a:off x="6336792" y="5916168"/>
            <a:ext cx="22997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steekproef × 0,6</a:t>
            </a:r>
            <a:endParaRPr lang="en-US" sz="900" dirty="0"/>
          </a:p>
        </p:txBody>
      </p:sp>
      <p:sp>
        <p:nvSpPr>
          <p:cNvPr id="54" name="Text 43"/>
          <p:cNvSpPr/>
          <p:nvPr/>
        </p:nvSpPr>
        <p:spPr>
          <a:xfrm>
            <a:off x="8782812" y="571500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935A"/>
                </a:solidFill>
              </a:rPr>
              <a:t>›</a:t>
            </a:r>
            <a:endParaRPr lang="en-US" sz="1400" dirty="0"/>
          </a:p>
        </p:txBody>
      </p:sp>
      <p:sp>
        <p:nvSpPr>
          <p:cNvPr id="55" name="Shape 44"/>
          <p:cNvSpPr/>
          <p:nvPr/>
        </p:nvSpPr>
        <p:spPr>
          <a:xfrm>
            <a:off x="8993124" y="5623560"/>
            <a:ext cx="25557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4453C"/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9121140" y="5660136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Aangescherpt</a:t>
            </a:r>
            <a:endParaRPr lang="en-US" sz="1050" dirty="0"/>
          </a:p>
        </p:txBody>
      </p:sp>
      <p:sp>
        <p:nvSpPr>
          <p:cNvPr id="57" name="Text 46"/>
          <p:cNvSpPr/>
          <p:nvPr/>
        </p:nvSpPr>
        <p:spPr>
          <a:xfrm>
            <a:off x="9121140" y="5916168"/>
            <a:ext cx="22997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terug naar 100%</a:t>
            </a:r>
            <a:endParaRPr lang="en-US" sz="900" dirty="0"/>
          </a:p>
        </p:txBody>
      </p:sp>
      <p:sp>
        <p:nvSpPr>
          <p:cNvPr id="58" name="Text 47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Bron-vertrouwen groeit met 10 schone ontvangsten (≤ 2% manco) en zakt bij 10% manco — automatisch.</a:t>
            </a:r>
            <a:endParaRPr lang="en-US" sz="1000" dirty="0"/>
          </a:p>
        </p:txBody>
      </p:sp>
      <p:sp>
        <p:nvSpPr>
          <p:cNvPr id="59" name="Text 48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Afwijkingen — jouw werklijst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Elk verschil tussen besteld en geteld komt hier terecht, met de bron erbij.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56692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96112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er gemeld wordt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96112" y="2304288"/>
            <a:ext cx="1621536" cy="310896"/>
          </a:xfrm>
          <a:prstGeom prst="roundRect">
            <a:avLst>
              <a:gd name="adj" fmla="val 50000"/>
            </a:avLst>
          </a:prstGeom>
          <a:solidFill>
            <a:srgbClr val="B4453C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2304288"/>
            <a:ext cx="162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Tekort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63952" y="2304288"/>
            <a:ext cx="1621536" cy="310896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13" name="Text 10"/>
          <p:cNvSpPr/>
          <p:nvPr/>
        </p:nvSpPr>
        <p:spPr>
          <a:xfrm>
            <a:off x="2663952" y="2304288"/>
            <a:ext cx="162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Teveel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431792" y="2304288"/>
            <a:ext cx="1621536" cy="310896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15" name="Text 12"/>
          <p:cNvSpPr/>
          <p:nvPr/>
        </p:nvSpPr>
        <p:spPr>
          <a:xfrm>
            <a:off x="4431792" y="2304288"/>
            <a:ext cx="162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Niet besteld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96112" y="2724912"/>
            <a:ext cx="1621536" cy="310896"/>
          </a:xfrm>
          <a:prstGeom prst="roundRect">
            <a:avLst>
              <a:gd name="adj" fmla="val 50000"/>
            </a:avLst>
          </a:prstGeom>
          <a:solidFill>
            <a:srgbClr val="B4453C"/>
          </a:solidFill>
          <a:ln/>
        </p:spPr>
      </p:sp>
      <p:sp>
        <p:nvSpPr>
          <p:cNvPr id="17" name="Text 14"/>
          <p:cNvSpPr/>
          <p:nvPr/>
        </p:nvSpPr>
        <p:spPr>
          <a:xfrm>
            <a:off x="896112" y="2724912"/>
            <a:ext cx="162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Beschadigd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663952" y="2724912"/>
            <a:ext cx="1621536" cy="310896"/>
          </a:xfrm>
          <a:prstGeom prst="roundRect">
            <a:avLst>
              <a:gd name="adj" fmla="val 50000"/>
            </a:avLst>
          </a:prstGeom>
          <a:solidFill>
            <a:srgbClr val="B4453C"/>
          </a:solidFill>
          <a:ln/>
        </p:spPr>
      </p:sp>
      <p:sp>
        <p:nvSpPr>
          <p:cNvPr id="19" name="Text 16"/>
          <p:cNvSpPr/>
          <p:nvPr/>
        </p:nvSpPr>
        <p:spPr>
          <a:xfrm>
            <a:off x="2663952" y="2724912"/>
            <a:ext cx="162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Verkeerd artikel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431792" y="2724912"/>
            <a:ext cx="1621536" cy="310896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21" name="Text 18"/>
          <p:cNvSpPr/>
          <p:nvPr/>
        </p:nvSpPr>
        <p:spPr>
          <a:xfrm>
            <a:off x="4431792" y="2724912"/>
            <a:ext cx="162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Kwaliteit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96112" y="3145536"/>
            <a:ext cx="1621536" cy="310896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23" name="Text 20"/>
          <p:cNvSpPr/>
          <p:nvPr/>
        </p:nvSpPr>
        <p:spPr>
          <a:xfrm>
            <a:off x="896112" y="3145536"/>
            <a:ext cx="162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Verkeerd gelabeld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96112" y="3566160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488"/>
                </a:solidFill>
              </a:rPr>
              <a:t>Alleen geverifieerde regels tellen mee — wie blind binnenmeldt, meldt niets.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629400" y="178308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Jij handelt af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629400" y="2103120"/>
            <a:ext cx="4919472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667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75704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open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458200" y="210312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binnengekomen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629400" y="2542032"/>
            <a:ext cx="4919472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31628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75704" y="2542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claim ingediend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458200" y="254203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bij bron / leverancier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629400" y="2980944"/>
            <a:ext cx="4919472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75704" y="29809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gecrediteerd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458200" y="298094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geld terug ontvangen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629400" y="3419856"/>
            <a:ext cx="4919472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775704" y="34198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afgeschreven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458200" y="341985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verlies genomen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629400" y="3858768"/>
            <a:ext cx="4919472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775704" y="3858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opgelost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458200" y="385876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verder geen actie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4008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Wat het dashboard laat zien (90 dagen)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40080" y="443484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01600" dist="25400" dir="5400000">
              <a:srgbClr val="16243F">
                <a:alpha val="14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804672" y="4553712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Nauwkeurigheid per bron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804672" y="4919472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EEA"/>
                </a:solidFill>
              </a:rPr>
              <a:t>welke leverancier levert scheef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435858" y="443484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01600" dist="25400" dir="5400000">
              <a:srgbClr val="16243F">
                <a:alpha val="14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3600450" y="4553712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Nauwkeurigheid per winkel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00450" y="4919472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EEA"/>
                </a:solidFill>
              </a:rPr>
              <a:t>waar wordt slordig geteld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231636" y="443484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01600" dist="25400" dir="5400000">
              <a:srgbClr val="16243F">
                <a:alpha val="14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6396228" y="4553712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Verdeling per code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396228" y="4919472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EEA"/>
                </a:solidFill>
              </a:rPr>
              <a:t>tekort, schade, niet besteld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9027414" y="4434840"/>
            <a:ext cx="2521458" cy="914400"/>
          </a:xfrm>
          <a:prstGeom prst="roundRect">
            <a:avLst>
              <a:gd name="adj" fmla="val 8000"/>
            </a:avLst>
          </a:prstGeom>
          <a:solidFill>
            <a:srgbClr val="16243F"/>
          </a:solidFill>
          <a:ln/>
          <a:effectLst>
            <a:outerShdw sx="100000" sy="100000" kx="0" ky="0" algn="bl" rotWithShape="0" blurRad="101600" dist="25400" dir="5400000">
              <a:srgbClr val="16243F">
                <a:alpha val="14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9192006" y="4553712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Dock-to-stock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9192006" y="4919472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EEA"/>
                </a:solidFill>
              </a:rPr>
              <a:t>uren tussen onderweg en geboekt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5742432"/>
            <a:ext cx="329184" cy="329184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1353312" y="5577840"/>
            <a:ext cx="9994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</a:rPr>
              <a:t>Waarom dit dubbel werkt: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elke afgehandelde afwijking voedt ook het manco-profiel — de volgende zending van diezelfde bron wordt automatisch strenger of juist lichter gecontroleerd.</a:t>
            </a:r>
            <a:endParaRPr lang="en-US" sz="1150" dirty="0"/>
          </a:p>
        </p:txBody>
      </p:sp>
      <p:sp>
        <p:nvSpPr>
          <p:cNvPr id="57" name="Text 53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Melden kost een tik op de scanner; niet melden kost de claim-termijn bij de leverancier.</a:t>
            </a:r>
            <a:endParaRPr lang="en-US" sz="1000" dirty="0"/>
          </a:p>
        </p:txBody>
      </p:sp>
      <p:sp>
        <p:nvSpPr>
          <p:cNvPr id="58" name="Text 54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Herverdeling tussen winkels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De stuks gaan er bij de bron direct af en komen er bij het doel pas bij de scan bij.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920240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F1E8D6"/>
          </a:solidFill>
          <a:ln w="12700">
            <a:solidFill>
              <a:srgbClr val="B7935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0827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02996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Bronwinkel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98448" y="2436876"/>
            <a:ext cx="195681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heeft over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1097280" y="299008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B4453C"/>
          </a:solidFill>
          <a:ln/>
        </p:spPr>
      </p:sp>
      <p:sp>
        <p:nvSpPr>
          <p:cNvPr id="13" name="Text 9"/>
          <p:cNvSpPr/>
          <p:nvPr/>
        </p:nvSpPr>
        <p:spPr>
          <a:xfrm>
            <a:off x="109728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− 1 direct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63440" y="1920240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FBF1DD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20827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21808" y="202996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Onderweg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321808" y="2436876"/>
            <a:ext cx="195681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rit of DHL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120640" y="299008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</p:sp>
      <p:sp>
        <p:nvSpPr>
          <p:cNvPr id="19" name="Text 14"/>
          <p:cNvSpPr/>
          <p:nvPr/>
        </p:nvSpPr>
        <p:spPr>
          <a:xfrm>
            <a:off x="512064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telt nergens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8686800" y="1920240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E3F1EB"/>
          </a:solidFill>
          <a:ln w="12700">
            <a:solidFill>
              <a:srgbClr val="2F8F6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4" y="220827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45168" y="202996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Doelwinkel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345168" y="2436876"/>
            <a:ext cx="195681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heeft nodig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144000" y="299008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2F8F6B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+ 1 bij de scan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3520440" y="2400300"/>
            <a:ext cx="1005840" cy="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7543800" y="2400300"/>
            <a:ext cx="1005840" cy="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640080" y="3611880"/>
            <a:ext cx="34533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3831336"/>
            <a:ext cx="420624" cy="4206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26464" y="3794760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op de bron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77824" y="4361688"/>
            <a:ext cx="2977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Heeft de bronwinkel fysiek te weinig? Dan weigert de uitwisseling — anders zou de bron negatief raken en het doel fantoomvoorraad krijgen.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4367784" y="3611880"/>
            <a:ext cx="34533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5528" y="3831336"/>
            <a:ext cx="420624" cy="4206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154168" y="3794760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Pick-bon met barcode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4605528" y="4361688"/>
            <a:ext cx="2977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Bij een aanvraag rolt er een pick-bon uit de kassaprinter van de bronwinkel. Scannen = verstuurd; een tweede scan doet niets.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8095488" y="3611880"/>
            <a:ext cx="34533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232" y="3831336"/>
            <a:ext cx="420624" cy="42062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881872" y="3794760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 of DHL?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8333232" y="4361688"/>
            <a:ext cx="2977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Zitten beide winkels op dezelfde rit die binnen 4 dagen vertrekt? Dan gratis mee. Anders DHL (± € 7, morgen). Spoed = altijd DHL.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40080" y="5166360"/>
            <a:ext cx="10908792" cy="685800"/>
          </a:xfrm>
          <a:prstGeom prst="roundRect">
            <a:avLst>
              <a:gd name="adj" fmla="val 12000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5344668"/>
            <a:ext cx="329184" cy="32918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353312" y="516636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</a:rPr>
              <a:t>Wat jij instelt: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de ritten (naam, welke winkels, welke weekdagen), de DHL-prijs en hoeveel dagen wachten op een rit nog acceptabel is. Zonder ritten adviseert hij altijd DHL.</a:t>
            </a:r>
            <a:endParaRPr lang="en-US" sz="1150" dirty="0"/>
          </a:p>
        </p:txBody>
      </p:sp>
      <p:sp>
        <p:nvSpPr>
          <p:cNvPr id="43" name="Shape 33"/>
          <p:cNvSpPr/>
          <p:nvPr/>
        </p:nvSpPr>
        <p:spPr>
          <a:xfrm>
            <a:off x="640080" y="5897880"/>
            <a:ext cx="10908792" cy="384048"/>
          </a:xfrm>
          <a:prstGeom prst="roundRect">
            <a:avLst>
              <a:gd name="adj" fmla="val 21429"/>
            </a:avLst>
          </a:prstGeom>
          <a:solidFill>
            <a:srgbClr val="EEF2F8"/>
          </a:solidFill>
          <a:ln w="12700">
            <a:solidFill>
              <a:srgbClr val="D6DEEA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5925312"/>
            <a:ext cx="329184" cy="329184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353312" y="5897880"/>
            <a:ext cx="9994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Ontvangen gaat via dezelfde scan-to-receive: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 doelwinkel telt of meldt blind binnen — inclusief afwijking als er iets mist.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Overstock in de ene winkel is het tekort van de andere — deze route is jouw goedkoopste inkoop.</a:t>
            </a:r>
            <a:endParaRPr lang="en-US" sz="1000" dirty="0"/>
          </a:p>
        </p:txBody>
      </p:sp>
      <p:sp>
        <p:nvSpPr>
          <p:cNvPr id="47" name="Text 36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Inventarisatie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Jij zet de telling klaar, de winkel telt, jij keurt het verschil goed.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745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16243F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56" y="2057400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58775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Klaarzetten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8096" y="28986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alles, productgroep, artikelen of één sectie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12064" y="1746504"/>
            <a:ext cx="384048" cy="38404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12064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3282696" y="2674620"/>
            <a:ext cx="88392" cy="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407664" y="18745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B7935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2057400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17392" y="258775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Tellen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535680" y="28986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scannen op de handscanner, met foto en maat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279648" y="1746504"/>
            <a:ext cx="384048" cy="384048"/>
          </a:xfrm>
          <a:prstGeom prst="ellipse">
            <a:avLst/>
          </a:prstGeom>
          <a:solidFill>
            <a:srgbClr val="B7935A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3279648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050280" y="2674620"/>
            <a:ext cx="88392" cy="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175248" y="18745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B7935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524" y="2057400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84976" y="258775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Afronden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303264" y="28986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niet-gescand wordt 0 — het tekort wordt zichtbaar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047232" y="1746504"/>
            <a:ext cx="384048" cy="384048"/>
          </a:xfrm>
          <a:prstGeom prst="ellipse">
            <a:avLst/>
          </a:prstGeom>
          <a:solidFill>
            <a:srgbClr val="B7935A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04723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8817864" y="2674620"/>
            <a:ext cx="88392" cy="0"/>
          </a:xfrm>
          <a:prstGeom prst="line">
            <a:avLst/>
          </a:prstGeom>
          <a:noFill/>
          <a:ln w="28575">
            <a:solidFill>
              <a:srgbClr val="B7935A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8942832" y="18745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2F8F6B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108" y="2057400"/>
            <a:ext cx="475488" cy="4754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052560" y="258775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Goedkeuren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070848" y="289864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verschillen worden als correctie geboekt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8814816" y="1746504"/>
            <a:ext cx="384048" cy="384048"/>
          </a:xfrm>
          <a:prstGeom prst="ellipse">
            <a:avLst/>
          </a:prstGeom>
          <a:solidFill>
            <a:srgbClr val="2F8F6B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8814816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640080" y="3840480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4059936"/>
            <a:ext cx="420624" cy="42062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426464" y="4023360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Apart gelegd telt mee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877824" y="4590288"/>
            <a:ext cx="297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Wat gereserveerd is of op de paspop staat, wordt niet als “weg” geboekt: de teller ziet het en de zeroing houdt er rekening mee.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4367784" y="3840480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5528" y="4059936"/>
            <a:ext cx="420624" cy="42062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154168" y="4023360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Overzicht over alle winkels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4605528" y="4590288"/>
            <a:ext cx="297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Afgeronde tellingen wachten op jouw goedkeuring. Historie en zoeken per artikel: wanneer is dit voor het laatst geteld?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8095488" y="3840480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3232" y="4059936"/>
            <a:ext cx="420624" cy="42062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8881872" y="4023360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Correctie is idempotent</a:t>
            </a:r>
            <a:endParaRPr lang="en-US" sz="1250" dirty="0"/>
          </a:p>
        </p:txBody>
      </p:sp>
      <p:sp>
        <p:nvSpPr>
          <p:cNvPr id="46" name="Text 36"/>
          <p:cNvSpPr/>
          <p:nvPr/>
        </p:nvSpPr>
        <p:spPr>
          <a:xfrm>
            <a:off x="8333232" y="4590288"/>
            <a:ext cx="297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Twee keer goedkeuren boekt niet twee keer. De correctie staat in hetzelfde grootboek als kassa en web.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640080" y="5440680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E3F1EB"/>
          </a:solidFill>
          <a:ln w="12700">
            <a:solidFill>
              <a:srgbClr val="2F8F6B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5605272"/>
            <a:ext cx="329184" cy="329184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1353312" y="5440680"/>
            <a:ext cx="9994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</a:rPr>
              <a:t>Praktisch: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een deeltelling per sectie of productgroep kost een winkel een half uur en levert meer op dan één jaarlijkse telling — zet ze in de weken dat het rustig is.</a:t>
            </a:r>
            <a:endParaRPr lang="en-US" sz="1150" dirty="0"/>
          </a:p>
        </p:txBody>
      </p:sp>
      <p:sp>
        <p:nvSpPr>
          <p:cNvPr id="50" name="Text 39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Een telling verandert pas voorraad nadat jij hem hebt goedgekeurd.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leverbaar — de winkel vindt het stuk niet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Automatisch opgelost waar het kan, met een keuze voor jou waar het niet kan.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28800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" y="1965960"/>
            <a:ext cx="329184" cy="329184"/>
          </a:xfrm>
          <a:prstGeom prst="ellipse">
            <a:avLst/>
          </a:prstGeom>
          <a:solidFill>
            <a:srgbClr val="16243F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07008" y="1828800"/>
            <a:ext cx="6236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Fantoom-stuk eraf  </a:t>
            </a:r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— de voorraad van die winkel wordt direct gecorrigeerd, zodat het niet opnieuw verkocht wordt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2606040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743200"/>
            <a:ext cx="329184" cy="329184"/>
          </a:xfrm>
          <a:prstGeom prst="ellipse">
            <a:avLst/>
          </a:prstGeom>
          <a:solidFill>
            <a:srgbClr val="16243F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07008" y="2606040"/>
            <a:ext cx="6236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Opnieuw toewijzen  </a:t>
            </a:r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— de order wordt herberekend zónder die winkel — magazijn eerst, anders een andere winkel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383280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8096" y="3520440"/>
            <a:ext cx="329184" cy="329184"/>
          </a:xfrm>
          <a:prstGeom prst="ellipse">
            <a:avLst/>
          </a:prstGeom>
          <a:solidFill>
            <a:srgbClr val="B4453C"/>
          </a:solidFill>
          <a:ln/>
        </p:spPr>
      </p:sp>
      <p:sp>
        <p:nvSpPr>
          <p:cNvPr id="18" name="Text 15"/>
          <p:cNvSpPr/>
          <p:nvPr/>
        </p:nvSpPr>
        <p:spPr>
          <a:xfrm>
            <a:off x="768096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07008" y="3383280"/>
            <a:ext cx="6236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F"/>
                </a:solidFill>
              </a:rPr>
              <a:t>Lukt dat niet? Make-whole  </a:t>
            </a:r>
            <a:pPr indent="0" marL="0">
              <a:buNone/>
            </a:pPr>
            <a:r>
              <a:rPr lang="en-US" sz="1050" dirty="0">
                <a:solidFill>
                  <a:srgbClr val="667488"/>
                </a:solidFill>
              </a:rPr>
              <a:t>— annuleren + terugbetalen, of een retour starten voor een al verzonden deel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09560" y="1828800"/>
            <a:ext cx="363931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2048256"/>
            <a:ext cx="420624" cy="42062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695944" y="2011680"/>
            <a:ext cx="2724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klant hoort het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8147304" y="2578608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Bericht bij annulering + tot 3 alternatieven op maat. Beide zijn aan/uit te zetten.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909560" y="3108960"/>
            <a:ext cx="363931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3328416"/>
            <a:ext cx="420624" cy="42062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695944" y="3291840"/>
            <a:ext cx="2724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Miss-rate per winkel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147304" y="3858768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Hoe vaak een winkel niet kon leveren (90 dagen) — een betrouwbaarheidssignaal per filiaal.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40080" y="4434840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BF1DD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599432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53312" y="4434840"/>
            <a:ext cx="9994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</a:rPr>
              <a:t>Waarom dit gebeurt: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de systeemvoorraad stond hoger dan het rek. Meestal derving, een verkeerde telling of een stuk dat al bij een klant lag. De correctie is meteen ook de meting.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40080" y="5257800"/>
            <a:ext cx="345338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04672" y="5312664"/>
            <a:ext cx="312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Structureel hoge miss-rate?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804672" y="5586984"/>
            <a:ext cx="312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telling of tekort-bescherming inzetten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4367784" y="5257800"/>
            <a:ext cx="345338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532376" y="5312664"/>
            <a:ext cx="312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Vaak dezelfde artikelen?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532376" y="5586984"/>
            <a:ext cx="312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kandidaat voor extra veiligheidsvoorraad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8095488" y="5257800"/>
            <a:ext cx="345338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260080" y="5312664"/>
            <a:ext cx="312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Vaak dezelfde winkel?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8260080" y="5586984"/>
            <a:ext cx="312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kort pauzeren tot de voorraad klopt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Elke melding corrigeert de voorraad én levert een cijfer op waarmee je kunt sturen.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Retouren — terug de voorraad in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De klant regelt het zelf; jouw werk begint als de goederen fysiek binnen zijn.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2880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31628F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2011680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54203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Aanmelden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8096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in het account of retourportaal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12064" y="1700784"/>
            <a:ext cx="384048" cy="384048"/>
          </a:xfrm>
          <a:prstGeom prst="ellipse">
            <a:avLst/>
          </a:prstGeom>
          <a:solidFill>
            <a:srgbClr val="31628F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12064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2670048" y="2537460"/>
            <a:ext cx="162306" cy="0"/>
          </a:xfrm>
          <a:prstGeom prst="line">
            <a:avLst/>
          </a:prstGeom>
          <a:noFill/>
          <a:ln w="28575">
            <a:solidFill>
              <a:srgbClr val="667488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868930" y="182880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31628F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882" y="2011680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78658" y="254203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96946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DHL-label of naar de winkel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740914" y="1700784"/>
            <a:ext cx="384048" cy="384048"/>
          </a:xfrm>
          <a:prstGeom prst="ellipse">
            <a:avLst/>
          </a:prstGeom>
          <a:solidFill>
            <a:srgbClr val="31628F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2740914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4898898" y="2537460"/>
            <a:ext cx="162306" cy="0"/>
          </a:xfrm>
          <a:prstGeom prst="line">
            <a:avLst/>
          </a:prstGeom>
          <a:noFill/>
          <a:ln w="28575">
            <a:solidFill>
              <a:srgbClr val="667488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097780" y="182880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B7935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2011680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07508" y="254203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225796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onderweg of ingeleverd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969764" y="1700784"/>
            <a:ext cx="384048" cy="384048"/>
          </a:xfrm>
          <a:prstGeom prst="ellipse">
            <a:avLst/>
          </a:prstGeom>
          <a:solidFill>
            <a:srgbClr val="B7935A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4969764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7127748" y="2537460"/>
            <a:ext cx="162306" cy="0"/>
          </a:xfrm>
          <a:prstGeom prst="line">
            <a:avLst/>
          </a:prstGeom>
          <a:noFill/>
          <a:ln w="28575">
            <a:solidFill>
              <a:srgbClr val="667488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7326630" y="182880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B7935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5582" y="2011680"/>
            <a:ext cx="475488" cy="4754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36358" y="254203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Ontvangen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454646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controle + terugbetaling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7198614" y="1700784"/>
            <a:ext cx="384048" cy="384048"/>
          </a:xfrm>
          <a:prstGeom prst="ellipse">
            <a:avLst/>
          </a:prstGeom>
          <a:solidFill>
            <a:srgbClr val="B7935A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7198614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9356598" y="2537460"/>
            <a:ext cx="162306" cy="0"/>
          </a:xfrm>
          <a:prstGeom prst="line">
            <a:avLst/>
          </a:prstGeom>
          <a:noFill/>
          <a:ln w="28575">
            <a:solidFill>
              <a:srgbClr val="667488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9555480" y="182880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2F8F6B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10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2011680"/>
            <a:ext cx="475488" cy="4754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665208" y="254203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in voorraad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9683496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jouw afvinklijst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9427464" y="1700784"/>
            <a:ext cx="384048" cy="384048"/>
          </a:xfrm>
          <a:prstGeom prst="ellipse">
            <a:avLst/>
          </a:prstGeom>
          <a:solidFill>
            <a:srgbClr val="2F8F6B"/>
          </a:solidFill>
          <a:ln/>
          <a:effectLst>
            <a:outerShdw sx="100000" sy="100000" kx="0" ky="0" algn="bl" rotWithShape="0" blurRad="50800" dist="12700" dir="5400000">
              <a:srgbClr val="16243F">
                <a:alpha val="14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9427464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Shape 34"/>
          <p:cNvSpPr/>
          <p:nvPr/>
        </p:nvSpPr>
        <p:spPr>
          <a:xfrm>
            <a:off x="640080" y="3520440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3739896"/>
            <a:ext cx="420624" cy="42062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426464" y="3703320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Werklijst “terug te scannen”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877824" y="4270248"/>
            <a:ext cx="297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Retouren die binnen zijn maar nog niet fysiek in SRS geboekt. Afvinken zodra het stuk terug hangt — telt idempotent.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4367784" y="3520440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5528" y="3739896"/>
            <a:ext cx="420624" cy="420624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154168" y="3703320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Retoursignalen</a:t>
            </a:r>
            <a:endParaRPr lang="en-US" sz="1250" dirty="0"/>
          </a:p>
        </p:txBody>
      </p:sp>
      <p:sp>
        <p:nvSpPr>
          <p:cNvPr id="49" name="Text 39"/>
          <p:cNvSpPr/>
          <p:nvPr/>
        </p:nvSpPr>
        <p:spPr>
          <a:xfrm>
            <a:off x="4605528" y="4270248"/>
            <a:ext cx="297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Een artikel dat ≥ 3× terugkomt, in ≥ 30% van de verkopen én gemiddeld binnen 7 dagen: meestal een maat- of kwaliteitsprobleem.</a:t>
            </a:r>
            <a:endParaRPr lang="en-US" sz="950" dirty="0"/>
          </a:p>
        </p:txBody>
      </p:sp>
      <p:sp>
        <p:nvSpPr>
          <p:cNvPr id="50" name="Shape 40"/>
          <p:cNvSpPr/>
          <p:nvPr/>
        </p:nvSpPr>
        <p:spPr>
          <a:xfrm>
            <a:off x="8095488" y="3520440"/>
            <a:ext cx="34533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3232" y="3739896"/>
            <a:ext cx="420624" cy="420624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8881872" y="3703320"/>
            <a:ext cx="2538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het kost</a:t>
            </a:r>
            <a:endParaRPr lang="en-US" sz="1250" dirty="0"/>
          </a:p>
        </p:txBody>
      </p:sp>
      <p:sp>
        <p:nvSpPr>
          <p:cNvPr id="53" name="Text 42"/>
          <p:cNvSpPr/>
          <p:nvPr/>
        </p:nvSpPr>
        <p:spPr>
          <a:xfrm>
            <a:off x="8333232" y="4270248"/>
            <a:ext cx="297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8"/>
                </a:solidFill>
              </a:rPr>
              <a:t>14 dagen bedenktijd. Geld terug: € 4,99 retourkosten. Kiest de klant tegoed, dan is de retour gratis — dat houdt de omzet binnen.</a:t>
            </a:r>
            <a:endParaRPr lang="en-US" sz="950" dirty="0"/>
          </a:p>
        </p:txBody>
      </p:sp>
      <p:sp>
        <p:nvSpPr>
          <p:cNvPr id="54" name="Shape 43"/>
          <p:cNvSpPr/>
          <p:nvPr/>
        </p:nvSpPr>
        <p:spPr>
          <a:xfrm>
            <a:off x="640080" y="5120640"/>
            <a:ext cx="10908792" cy="685800"/>
          </a:xfrm>
          <a:prstGeom prst="roundRect">
            <a:avLst>
              <a:gd name="adj" fmla="val 12000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536" y="5298948"/>
            <a:ext cx="329184" cy="329184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1353312" y="512064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</a:rPr>
              <a:t>In de winkel ingeleverd?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de kassa ziet vooraf welke retouren onderweg zijn naar dat filiaal, verwerkt de terugbetaling en boekt het stuk in dezelfde core terug.</a:t>
            </a:r>
            <a:endParaRPr lang="en-US" sz="1150" dirty="0"/>
          </a:p>
        </p:txBody>
      </p:sp>
      <p:sp>
        <p:nvSpPr>
          <p:cNvPr id="57" name="Text 45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Signalen uit retouren horen terug te komen in inkoop: maatverdeling, pasvorm en kwaliteit.</a:t>
            </a:r>
            <a:endParaRPr lang="en-US" sz="1000" dirty="0"/>
          </a:p>
        </p:txBody>
      </p:sp>
      <p:sp>
        <p:nvSpPr>
          <p:cNvPr id="58" name="Text 46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kassa, website en portal jou opleveren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Drie schermen, één keten — dit is wat er voor jouw afdeling uit komt.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3422904" cy="370332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96112" y="2020824"/>
            <a:ext cx="548640" cy="548640"/>
          </a:xfrm>
          <a:prstGeom prst="ellipse">
            <a:avLst/>
          </a:prstGeom>
          <a:solidFill>
            <a:srgbClr val="B7935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1488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020824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kassa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96112" y="2715768"/>
            <a:ext cx="291084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96112" y="2834640"/>
            <a:ext cx="2910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Elke verkoop, retour en correctie is direct een voorraadmutatie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Werkt door bij storing en synchroniseert daarna — nooit dubbel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Bestel voor de klant: bezorgen of afhalen in een ander filiaal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Reserveren / apart leggen houdt voorraad hard vast (2 uur)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Paspop-markering: zichtbaar apart, blijft verkoopbaar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Dagafsluiting met btw-uitsplitsing en kasstaat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383024" y="1783080"/>
            <a:ext cx="3422904" cy="370332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39056" y="2020824"/>
            <a:ext cx="548640" cy="548640"/>
          </a:xfrm>
          <a:prstGeom prst="ellipse">
            <a:avLst/>
          </a:prstGeom>
          <a:solidFill>
            <a:srgbClr val="3162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072" y="21488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97424" y="2020824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website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4639056" y="2715768"/>
            <a:ext cx="291084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639056" y="2834640"/>
            <a:ext cx="2910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Toont het netto beschikbare getal, niet de bruto SRS-stand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Zet bij het afrekenen een harde claim op de voorraad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Belooft levertijd op basis van jouw cutoffs en verzenddagen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Click &amp; collect en afhalen in een gekozen filiaal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Terug-op-voorraad-meldingen = vraagsignaal per maat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Levert de order met een kant-en-klaar toewijzingsplan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125968" y="1783080"/>
            <a:ext cx="3422904" cy="370332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82000" y="2020824"/>
            <a:ext cx="548640" cy="548640"/>
          </a:xfrm>
          <a:prstGeom prst="ellipse">
            <a:avLst/>
          </a:prstGeom>
          <a:solidFill>
            <a:srgbClr val="21345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0016" y="21488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40368" y="2020824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portal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8382000" y="2715768"/>
            <a:ext cx="291084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382000" y="2834640"/>
            <a:ext cx="29108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Ontvangst-afwijkingen afhandelen (claim, credit, afschrijven)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Niet-leverbaar-meldingen en miss-rate per winkel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Retouren die terug de voorraad in moeten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Inventarisaties klaarzetten en goedkeuren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Order doorrekenen: waar zou hij vandaan komen?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Alle instellingen van de volgende twee slides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40080" y="5669280"/>
            <a:ext cx="10908792" cy="566928"/>
          </a:xfrm>
          <a:prstGeom prst="roundRect">
            <a:avLst>
              <a:gd name="adj" fmla="val 14516"/>
            </a:avLst>
          </a:prstGeom>
          <a:solidFill>
            <a:srgbClr val="EEF2F8"/>
          </a:solidFill>
          <a:ln w="12700">
            <a:solidFill>
              <a:srgbClr val="D6DEE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788152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53312" y="5669280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43F"/>
                </a:solidFill>
              </a:rPr>
              <a:t>Alle drie schrijven naar hetzelfde grootboek: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wat de kassa verkoopt ziet de site meteen, en wat de site reserveert ziet de winkel meteen.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Geen exports, geen tussenbestanden, geen “welk systeem heeft gelijk?”.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jij instelt — voorraad en levering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Geen ontwikkelaar nodig: dit staat in de portal en werkt binnen een halve minuut door.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03120"/>
                <a:gridCol w="5605272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Instelling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Nu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Wat het doet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Veiligheidsvoorraad winkels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 stuks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Per artikel over álle winkels samen — die stuks verkoopt de site niet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Veiligheidsvoorraad magazijn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Zelfde soort budget, maar over de magazijnlocaties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Marge winkelkanaal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Kassa en winkels onderling: de verkoper heeft het artikel in handen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Onderbevoorrade winkel beschermen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aan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Winkel met een tekort levert geen weborder — tenzij als laatste redmiddel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Overstock eerst versturen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uit (vanaf 3 over)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Laat een winkel die ruim boven haar ideaal zit vóór het magazijn leveren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Gepauzeerde filialen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Verbouwing, vakantie of onderbezetting: tijdelijk geen orders toewijzen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Extra sluitingsdagen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Bedrijfssluiting of inventarisatie: die dag vertrekt er niets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Cutoff magazijn / winkels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17:00 (vr 16:00 / 17:00)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Laatste moment dat een pakket vandaag nog de deur uit kan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Overdrachtsmarge winkel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 minuten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Zoveel eerder dan sluitingstijd sluit de winkel-cutoff (inpakken)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Verzenden zaterdag / zondag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winkels ja / nee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Vervoerders halen op zondag niet op; magazijn werkt door de week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Levertijd standaard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2–3 werkdagen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Belofte op de site; uit een winkel rekent hij één dag extra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5760720"/>
            <a:ext cx="10908792" cy="411480"/>
          </a:xfrm>
          <a:prstGeom prst="roundRect">
            <a:avLst>
              <a:gd name="adj" fmla="val 20000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580186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53312" y="576072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Waar: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portal → Nieuwe site → Instellingen. Alles hierboven is business-logica, geen code — daarom staat het bewust niet in de serverconfiguratie.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Eén wijziging werkt tegelijk door op de site, in de kassa en op de scanner.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jij instelt — ontvangst en logistiek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De strengheid van de controle is een knop, geen aanname.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03120"/>
                <a:gridCol w="560527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Instelling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Nu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Wat het doet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Toegestane afwijking (AQL)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2,5%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Welk deel van de getelde regels mag afwijken vóór de levering wordt afgekeurd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Minimale steekproef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 regels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Ondergrens, ook als de levering klein is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Kleine partij → alles tellen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≤ 20 stuks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Onder deze grens is steekproeven zinloos: gewoon alles tellen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Hoge waarde → alles tellen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≥ € 150 per stuk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Pakken en colberts nooit steekproefsgewijs binnenmelden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Nieuwe bron → alles tellen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&lt; 3 ontvangsten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Eerst leren hoe nauwkeurig deze bron levert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Bron aanscherpen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≥ 10% manco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Terug naar 100% tellen; na 10 schone ontvangsten juist een kleinere steekproef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Probleemartikel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≥ 2× manco én ≥ 15%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Dit artikel wordt in elke zending verplicht meegeteld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243F"/>
                          </a:solidFill>
                        </a:rPr>
                        <a:t>Manco-venster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180 dagen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67488"/>
                          </a:solidFill>
                        </a:rPr>
                        <a:t>Hoe ver de ontvangst-historie meetelt in het profiel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4983480"/>
            <a:ext cx="253517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5202936"/>
            <a:ext cx="420624" cy="4206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26464" y="5166360"/>
            <a:ext cx="1620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Ritten &amp; DHL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877824" y="5733288"/>
            <a:ext cx="20596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Geen ritten ingesteld → advies is altijd DHL (± € 7).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3431286" y="4983480"/>
            <a:ext cx="253517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030" y="5202936"/>
            <a:ext cx="420624" cy="4206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17670" y="5166360"/>
            <a:ext cx="1620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Reservering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3669030" y="5733288"/>
            <a:ext cx="20596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2 uur vasthouden — winkel én online.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6222492" y="4983480"/>
            <a:ext cx="253517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236" y="5202936"/>
            <a:ext cx="420624" cy="4206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08876" y="5166360"/>
            <a:ext cx="1620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Retour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6460236" y="5733288"/>
            <a:ext cx="20596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14 dagen bedenktijd, € 4,99 bij geld terug, gratis bij tegoed.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9013698" y="4983480"/>
            <a:ext cx="253517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1442" y="5202936"/>
            <a:ext cx="420624" cy="42062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800082" y="5166360"/>
            <a:ext cx="1620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Meldingen aan onszelf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9251442" y="5733288"/>
            <a:ext cx="20596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7488"/>
                </a:solidFill>
              </a:rPr>
              <a:t>Wie de nachtelijke bewaking krijgt. Leeg = niemand.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Ontvangst-, rit- en reserveringsinstellingen staan op hun eigen kaart in de portal; de rest onder Instellingen.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Jouw ritme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Wat je dagelijks afvinkt, wat wekelijks loont en waar je per maand op stuurt.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3422904" cy="393192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783080"/>
            <a:ext cx="3422904" cy="749808"/>
          </a:xfrm>
          <a:prstGeom prst="roundRect">
            <a:avLst>
              <a:gd name="adj" fmla="val 10976"/>
            </a:avLst>
          </a:prstGeom>
          <a:solidFill>
            <a:srgbClr val="B7935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8424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783080"/>
            <a:ext cx="2508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Elke dag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896112" y="2697480"/>
            <a:ext cx="29108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Open zendingen ontvangen en afsluiten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Nieuwe ontvangst-afwijkingen afhandelen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Niet-leverbaar-meldingen oplossen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Retouren afvinken die terug de voorraad in gaan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Pick-deadlines: staat er iets op rood?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83024" y="1783080"/>
            <a:ext cx="3422904" cy="393192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83024" y="1783080"/>
            <a:ext cx="3422904" cy="749808"/>
          </a:xfrm>
          <a:prstGeom prst="roundRect">
            <a:avLst>
              <a:gd name="adj" fmla="val 10976"/>
            </a:avLst>
          </a:prstGeom>
          <a:solidFill>
            <a:srgbClr val="31628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056" y="198424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14544" y="1783080"/>
            <a:ext cx="2508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Elke week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639056" y="2697480"/>
            <a:ext cx="29108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Deeltelling klaarzetten en goedgekeurde tellingen verwerken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Herverdelen: overstock in de ene winkel, tekort in de andere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Miss-rate per winkel bekijken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Openstaande claims bij leveranciers nalopen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Terug-op-voorraad-aanvragen als vraagsignaal lezen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125968" y="1783080"/>
            <a:ext cx="3422904" cy="393192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F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25968" y="1783080"/>
            <a:ext cx="3422904" cy="749808"/>
          </a:xfrm>
          <a:prstGeom prst="roundRect">
            <a:avLst>
              <a:gd name="adj" fmla="val 10976"/>
            </a:avLst>
          </a:prstGeom>
          <a:solidFill>
            <a:srgbClr val="21345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19842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57488" y="1783080"/>
            <a:ext cx="2508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Elke maand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382000" y="2697480"/>
            <a:ext cx="29108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Nauwkeurigheid per bron — input voor het leveranciersgesprek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Dock-to-stock: hoe lang staat een zending stil?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Retoursignalen doorgeven aan inkoop (maat, pasvorm, kwaliteit)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Drempels bijstellen: veiligheidsvoorraad, AQL, ritten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Cutoffs herijken rond feestdagen en koopavonden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40080" y="5852160"/>
            <a:ext cx="10908792" cy="411480"/>
          </a:xfrm>
          <a:prstGeom prst="roundRect">
            <a:avLst>
              <a:gd name="adj" fmla="val 20000"/>
            </a:avLst>
          </a:prstGeom>
          <a:solidFill>
            <a:srgbClr val="E3F1EB"/>
          </a:solidFill>
          <a:ln w="12700">
            <a:solidFill>
              <a:srgbClr val="2F8F6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893308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53312" y="585216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Vuistregel: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alles wat je dagelijks afvinkt kost minuten; alles wat blijft liggen kost voorraad, claim-termijn of een teleurgestelde klant.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De werklijsten in de portal staan in deze volgorde — bovenaan wat vandaag moet.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Bewaking die vanzelf draait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Een aantal controles loopt op de achtergrond en meldt zich alleen als er iets 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5294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002536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26464" y="1965960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Elke 10 minuten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77824" y="253288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Verlopen reserveringen worden vrijgegeven en de anti-oversell-teller wordt herijkt op de werkelijke claims.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54496" y="1783080"/>
            <a:ext cx="5294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02536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965960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Elke 4 uur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92240" y="253288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Klanten die op een uitverkochte maat wachten krijgen bericht zodra hij terug is — of na 14 dagen een alternatief.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0080" y="3429000"/>
            <a:ext cx="5294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648456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26464" y="3611880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Elke nacht om 05:30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77824" y="417880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Kassabon-bewaking: ontbrekende bonnen in de dagstaat, of meer geretourneerd dan verkocht. Schone stand = geen mail.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254496" y="3429000"/>
            <a:ext cx="5294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648456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40880" y="3611880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Elke 4 uur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492240" y="417880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Catalogus-synchronisatie: nieuwe en gewijzigde artikelen, zodat scannen en zoeken het artikel kennen.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40080" y="4846320"/>
            <a:ext cx="10908792" cy="685800"/>
          </a:xfrm>
          <a:prstGeom prst="roundRect">
            <a:avLst>
              <a:gd name="adj" fmla="val 12000"/>
            </a:avLst>
          </a:prstGeom>
          <a:solidFill>
            <a:srgbClr val="E5EEF6"/>
          </a:solidFill>
          <a:ln w="12700">
            <a:solidFill>
              <a:srgbClr val="31628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502462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53312" y="484632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</a:rPr>
              <a:t>Zelf meekijken: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de portal toont de drift-monitor van de voorraadreserveringen — hoe vaak en hoeveel de teller wegliep van de werkelijke claims. Loopt die op, dan is dat een signaal, geen ruis.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640080" y="5669280"/>
            <a:ext cx="10908792" cy="566928"/>
          </a:xfrm>
          <a:prstGeom prst="roundRect">
            <a:avLst>
              <a:gd name="adj" fmla="val 14516"/>
            </a:avLst>
          </a:prstGeom>
          <a:solidFill>
            <a:srgbClr val="FBF1DD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5788152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53312" y="5669280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43F"/>
                </a:solidFill>
              </a:rPr>
              <a:t>Belangrijk: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 bewaking mailt naar de adressen die bij “Meldingen aan onszelf” staan. Staat daar niemand, dan blijft de melding onopgemerkt in het logboek staan.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Stil is goed nieuws: er wordt alleen gemaild als er daadwerkelijk iets afwijkt.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749808" cy="749808"/>
          </a:xfrm>
          <a:prstGeom prst="ellipse">
            <a:avLst/>
          </a:prstGeom>
          <a:solidFill>
            <a:srgbClr val="16243F"/>
          </a:solidFill>
          <a:ln/>
          <a:effectLst>
            <a:outerShdw sx="100000" sy="100000" kx="0" ky="0" algn="bl" rotWithShape="0" blurRad="76200" dist="25400" dir="5400000">
              <a:srgbClr val="16243F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34472" y="3840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D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72768" y="43891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Grenzen en wat er nog komt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2768" y="905256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488"/>
                </a:solidFill>
              </a:rPr>
              <a:t>Eerlijk over wat er vandaag niet in zit — zodat niemand ernaar zoekt.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529437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002536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26464" y="1965960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SRS blijft het magazijnsysteem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77824" y="2532888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Er gaat géén weborder naar SRS. Onze ontvangst-mutatie overbrugt het gat tot SRS de ontvangst zelf heeft verwerkt; dat overdrachtsmoment toetsen we vóór livegang.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54496" y="1783080"/>
            <a:ext cx="529437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02536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965960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Pinnen aan de kassa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92240" y="2532888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De pinbetaling loopt nog via de bestaande terminal, los van de kassasoftware. Integratie vraagt een keuze in terminal en betaalprovider.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0080" y="3566160"/>
            <a:ext cx="529437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785616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26464" y="3749040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Catalogus en prijzen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77824" y="4315968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De kassa werkt nog met SRS-artikeldata, de site met de eigen catalogus. De vóórraad is wél gedeeld; het samenvoegen van artikeldata staat op de routekaart.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254496" y="3566160"/>
            <a:ext cx="529437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16243F">
                <a:alpha val="9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785616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40880" y="3749040"/>
            <a:ext cx="4379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Voorraad elke 5 minuten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492240" y="4315968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De vijf-minuten-delta uit SRS loopt al mee in een schaduwtabel. Pas als die exact gelijk loopt aan de huidige bron schakelen we over.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40080" y="5120640"/>
            <a:ext cx="10908792" cy="731520"/>
          </a:xfrm>
          <a:prstGeom prst="roundRect">
            <a:avLst>
              <a:gd name="adj" fmla="val 11250"/>
            </a:avLst>
          </a:prstGeom>
          <a:solidFill>
            <a:srgbClr val="E3F1EB"/>
          </a:solidFill>
          <a:ln w="12700">
            <a:solidFill>
              <a:srgbClr val="2F8F6B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532180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53312" y="512064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F"/>
                </a:solidFill>
              </a:rPr>
              <a:t>Wat wél al leeft: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de gedeelde voorraad, de toewijzing, scan-to-receive met steekproef, herverdeling, inventarisatie, niet-leverbaar en de retour-werklijst — inclusief de bijbehorende dashboards.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640080" y="6382512"/>
            <a:ext cx="9628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43F"/>
                </a:solidFill>
              </a:rPr>
              <a:t>Kern:  </a:t>
            </a:r>
            <a:pPr indent="0" marL="0">
              <a:buNone/>
            </a:pPr>
            <a:r>
              <a:rPr lang="en-US" sz="1000" dirty="0">
                <a:solidFill>
                  <a:srgbClr val="667488"/>
                </a:solidFill>
              </a:rPr>
              <a:t>Alles op deze slide is bekend en gepland — geen verrassingen in de winkel.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9354312" y="6492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88"/>
                </a:solidFill>
              </a:rPr>
              <a:t>GENTS · supply chain · 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1463040"/>
            <a:ext cx="4754880" cy="4754880"/>
          </a:xfrm>
          <a:prstGeom prst="ellipse">
            <a:avLst/>
          </a:prstGeom>
          <a:solidFill>
            <a:srgbClr val="2134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935A"/>
                </a:solidFill>
              </a:rPr>
              <a:t>De kern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Vijf spelregels voor de hele keten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08792" cy="603504"/>
          </a:xfrm>
          <a:prstGeom prst="roundRect">
            <a:avLst>
              <a:gd name="adj" fmla="val 13636"/>
            </a:avLst>
          </a:prstGeom>
          <a:solidFill>
            <a:srgbClr val="21345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267712"/>
            <a:ext cx="365760" cy="365760"/>
          </a:xfrm>
          <a:prstGeom prst="ellipse">
            <a:avLst/>
          </a:prstGeom>
          <a:solidFill>
            <a:srgbClr val="B7935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148840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Voorraad ontstaat bij de scan  </a:t>
            </a:r>
            <a:pPr indent="0" marL="0">
              <a:buNone/>
            </a:pPr>
            <a:r>
              <a:rPr lang="en-US" sz="1200" dirty="0">
                <a:solidFill>
                  <a:srgbClr val="D6DEEA"/>
                </a:solidFill>
              </a:rPr>
              <a:t>— niet bij de pakbon en niet bij het versturen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908792" cy="603504"/>
          </a:xfrm>
          <a:prstGeom prst="roundRect">
            <a:avLst>
              <a:gd name="adj" fmla="val 13636"/>
            </a:avLst>
          </a:prstGeom>
          <a:solidFill>
            <a:srgbClr val="2134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980944"/>
            <a:ext cx="365760" cy="365760"/>
          </a:xfrm>
          <a:prstGeom prst="ellipse">
            <a:avLst/>
          </a:prstGeom>
          <a:solidFill>
            <a:srgbClr val="B7935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862072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Onderweg telt bij niemand mee  </a:t>
            </a:r>
            <a:pPr indent="0" marL="0">
              <a:buNone/>
            </a:pPr>
            <a:r>
              <a:rPr lang="en-US" sz="1200" dirty="0">
                <a:solidFill>
                  <a:srgbClr val="D6DEEA"/>
                </a:solidFill>
              </a:rPr>
              <a:t>— de bron is 'm kwijt, het doel heeft 'm nog niet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575304"/>
            <a:ext cx="10908792" cy="603504"/>
          </a:xfrm>
          <a:prstGeom prst="roundRect">
            <a:avLst>
              <a:gd name="adj" fmla="val 13636"/>
            </a:avLst>
          </a:prstGeom>
          <a:solidFill>
            <a:srgbClr val="21345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694176"/>
            <a:ext cx="365760" cy="365760"/>
          </a:xfrm>
          <a:prstGeom prst="ellipse">
            <a:avLst/>
          </a:prstGeom>
          <a:solidFill>
            <a:srgbClr val="B7935A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575304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Wat je niet telt, kun je niet claimen  </a:t>
            </a:r>
            <a:pPr indent="0" marL="0">
              <a:buNone/>
            </a:pPr>
            <a:r>
              <a:rPr lang="en-US" sz="1200" dirty="0">
                <a:solidFill>
                  <a:srgbClr val="D6DEEA"/>
                </a:solidFill>
              </a:rPr>
              <a:t>— blind binnenmelden is een keuze, geen meting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288536"/>
            <a:ext cx="10908792" cy="603504"/>
          </a:xfrm>
          <a:prstGeom prst="roundRect">
            <a:avLst>
              <a:gd name="adj" fmla="val 13636"/>
            </a:avLst>
          </a:prstGeom>
          <a:solidFill>
            <a:srgbClr val="21345A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4407408"/>
            <a:ext cx="365760" cy="365760"/>
          </a:xfrm>
          <a:prstGeom prst="ellipse">
            <a:avLst/>
          </a:prstGeom>
          <a:solidFill>
            <a:srgbClr val="B7935A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288536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Dubbel boeken kan niet  </a:t>
            </a:r>
            <a:pPr indent="0" marL="0">
              <a:buNone/>
            </a:pPr>
            <a:r>
              <a:rPr lang="en-US" sz="1200" dirty="0">
                <a:solidFill>
                  <a:srgbClr val="D6DEEA"/>
                </a:solidFill>
              </a:rPr>
              <a:t>— elke mutatie is idempotent — ook na een storing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001768"/>
            <a:ext cx="10908792" cy="603504"/>
          </a:xfrm>
          <a:prstGeom prst="roundRect">
            <a:avLst>
              <a:gd name="adj" fmla="val 13636"/>
            </a:avLst>
          </a:prstGeom>
          <a:solidFill>
            <a:srgbClr val="21345A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" y="5120640"/>
            <a:ext cx="365760" cy="365760"/>
          </a:xfrm>
          <a:prstGeom prst="ellipse">
            <a:avLst/>
          </a:prstGeom>
          <a:solidFill>
            <a:srgbClr val="B7935A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5001768"/>
            <a:ext cx="9994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 knoppen staan in de portal  </a:t>
            </a:r>
            <a:pPr indent="0" marL="0">
              <a:buNone/>
            </a:pPr>
            <a:r>
              <a:rPr lang="en-US" sz="1200" dirty="0">
                <a:solidFill>
                  <a:srgbClr val="D6DEEA"/>
                </a:solidFill>
              </a:rPr>
              <a:t>— business-regels horen niet in code te zitten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B7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GENTS — SUITS YOU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90872" y="6172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6DEEA"/>
                </a:solidFill>
              </a:rPr>
              <a:t>Vragen of iets dat anders moet? Zeg het — de meeste regels op deze slides zijn een instelling.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GENTS — Supply chain: kassa, website en portal</dc:title>
  <dc:subject>PptxGenJS Presentation</dc:subject>
  <dc:creator>GENTS</dc:creator>
  <cp:lastModifiedBy>GENTS</cp:lastModifiedBy>
  <cp:revision>1</cp:revision>
  <dcterms:created xsi:type="dcterms:W3CDTF">2026-08-19T04:26:16Z</dcterms:created>
  <dcterms:modified xsi:type="dcterms:W3CDTF">2026-08-19T04:26:16Z</dcterms:modified>
</cp:coreProperties>
</file>