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99832" y="-2194560"/>
            <a:ext cx="5943600" cy="5943600"/>
          </a:xfrm>
          <a:prstGeom prst="ellipse">
            <a:avLst/>
          </a:prstGeom>
          <a:solidFill>
            <a:srgbClr val="21345A"/>
          </a:solidFill>
          <a:ln/>
        </p:spPr>
      </p:sp>
      <p:sp>
        <p:nvSpPr>
          <p:cNvPr id="3" name="Shape 1"/>
          <p:cNvSpPr/>
          <p:nvPr/>
        </p:nvSpPr>
        <p:spPr>
          <a:xfrm>
            <a:off x="10177272" y="4206240"/>
            <a:ext cx="2743200" cy="2743200"/>
          </a:xfrm>
          <a:prstGeom prst="ellipse">
            <a:avLst/>
          </a:prstGeom>
          <a:solidFill>
            <a:srgbClr val="1B2E5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800" kern="0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FFFFF"/>
                </a:solidFill>
              </a:rPr>
              <a:t>SUITS YOU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nieuwe omnichannel-stack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A"/>
                </a:solidFill>
              </a:rPr>
              <a:t>Hoe site, kassa, handscanner, voorraad en portal samen één eigen platform vormen.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7935A"/>
                </a:solidFill>
              </a:rPr>
              <a:t>Managementteam-presentatie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59070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Site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737360" y="58887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935A"/>
                </a:solidFill>
              </a:rPr>
              <a:t>›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59436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86584" y="59070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Kassa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154680" y="58887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935A"/>
                </a:solidFill>
              </a:rPr>
              <a:t>›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9436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03904" y="59070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Scanner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0" y="58887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935A"/>
                </a:solidFill>
              </a:rPr>
              <a:t>›</a:t>
            </a:r>
            <a:endParaRPr lang="en-US" sz="16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5943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21224" y="59070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Voorraad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989320" y="58887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935A"/>
                </a:solidFill>
              </a:rPr>
              <a:t>›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94360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38544" y="59070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Portal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Alles draait om één centrale database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Elk systeem leest en schrijft naar dezelfde bron — geen losse eilanden, geen dubbele data.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89904" y="3840480"/>
            <a:ext cx="0" cy="-1691640"/>
          </a:xfrm>
          <a:prstGeom prst="line">
            <a:avLst/>
          </a:prstGeom>
          <a:noFill/>
          <a:ln w="28575">
            <a:solidFill>
              <a:srgbClr val="D6DEEA"/>
            </a:solidFill>
            <a:prstDash val="solid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6089904" y="3840480"/>
            <a:ext cx="2941932" cy="-1196170"/>
          </a:xfrm>
          <a:prstGeom prst="line">
            <a:avLst/>
          </a:prstGeom>
          <a:noFill/>
          <a:ln w="28575">
            <a:solidFill>
              <a:srgbClr val="D6DEEA"/>
            </a:solidFill>
            <a:prstDash val="solid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6089904" y="3840480"/>
            <a:ext cx="4160520" cy="0"/>
          </a:xfrm>
          <a:prstGeom prst="line">
            <a:avLst/>
          </a:prstGeom>
          <a:noFill/>
          <a:ln w="28575">
            <a:solidFill>
              <a:srgbClr val="D6DEEA"/>
            </a:solidFill>
            <a:prstDash val="solid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6089904" y="3840480"/>
            <a:ext cx="2941932" cy="1196170"/>
          </a:xfrm>
          <a:prstGeom prst="line">
            <a:avLst/>
          </a:prstGeom>
          <a:noFill/>
          <a:ln w="28575">
            <a:solidFill>
              <a:srgbClr val="D6DEEA"/>
            </a:solidFill>
            <a:prstDash val="solid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6089904" y="3840480"/>
            <a:ext cx="0" cy="1691640"/>
          </a:xfrm>
          <a:prstGeom prst="line">
            <a:avLst/>
          </a:prstGeom>
          <a:noFill/>
          <a:ln w="28575">
            <a:solidFill>
              <a:srgbClr val="D6DEEA"/>
            </a:solidFill>
            <a:prstDash val="solid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6089904" y="3840480"/>
            <a:ext cx="-2941932" cy="1196170"/>
          </a:xfrm>
          <a:prstGeom prst="line">
            <a:avLst/>
          </a:prstGeom>
          <a:noFill/>
          <a:ln w="28575">
            <a:solidFill>
              <a:srgbClr val="D6DEEA"/>
            </a:solidFill>
            <a:prstDash val="solid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6089904" y="3840480"/>
            <a:ext cx="-4160520" cy="0"/>
          </a:xfrm>
          <a:prstGeom prst="line">
            <a:avLst/>
          </a:prstGeom>
          <a:noFill/>
          <a:ln w="28575">
            <a:solidFill>
              <a:srgbClr val="D6DEEA"/>
            </a:solidFill>
            <a:prstDash val="solid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6089904" y="3840480"/>
            <a:ext cx="-2941932" cy="-1196170"/>
          </a:xfrm>
          <a:prstGeom prst="line">
            <a:avLst/>
          </a:prstGeom>
          <a:noFill/>
          <a:ln w="28575">
            <a:solidFill>
              <a:srgbClr val="D6DEEA"/>
            </a:solidFill>
            <a:prstDash val="solid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4718304" y="2971800"/>
            <a:ext cx="2743200" cy="1737360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152400" dist="50800" dir="5400000">
              <a:srgbClr val="16243F">
                <a:alpha val="2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6" y="3273552"/>
            <a:ext cx="585216" cy="58521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09744" y="3913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Centrale database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809744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DEEA"/>
                </a:solidFill>
              </a:rPr>
              <a:t>voorraad-core · één waarheid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198364" y="1828800"/>
            <a:ext cx="17830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31628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668" y="195681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856732" y="1828800"/>
            <a:ext cx="996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140296" y="2324270"/>
            <a:ext cx="17830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31628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600" y="245228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98664" y="2324270"/>
            <a:ext cx="996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Mollie betaling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358884" y="3520440"/>
            <a:ext cx="17830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B7935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188" y="364845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17252" y="3520440"/>
            <a:ext cx="996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Verzending / DHL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40296" y="4716610"/>
            <a:ext cx="17830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B7935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600" y="4844626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798664" y="4716610"/>
            <a:ext cx="996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SRS magazijn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5198364" y="5212080"/>
            <a:ext cx="17830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B7935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4668" y="5340096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856732" y="5212080"/>
            <a:ext cx="996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Kassa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2256432" y="4716610"/>
            <a:ext cx="17830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B7935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2736" y="4844626"/>
            <a:ext cx="384048" cy="38404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914800" y="4716610"/>
            <a:ext cx="996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Handscanner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1037844" y="3520440"/>
            <a:ext cx="17830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21345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4148" y="3648456"/>
            <a:ext cx="384048" cy="38404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696212" y="3520440"/>
            <a:ext cx="996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2256432" y="2324270"/>
            <a:ext cx="17830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21345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2736" y="2452286"/>
            <a:ext cx="384048" cy="38404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2914800" y="2324270"/>
            <a:ext cx="996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AI-functies</a:t>
            </a:r>
            <a:endParaRPr lang="en-US" sz="1150" dirty="0"/>
          </a:p>
        </p:txBody>
      </p:sp>
      <p:sp>
        <p:nvSpPr>
          <p:cNvPr id="44" name="Text 32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Eén bron betekent: wat de winkel verkoopt ziet de site direct, en omgekeerd.</a:t>
            </a:r>
            <a:endParaRPr lang="en-US" sz="1000" dirty="0"/>
          </a:p>
        </p:txBody>
      </p:sp>
      <p:sp>
        <p:nvSpPr>
          <p:cNvPr id="45" name="Text 33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Architectuur — drie systemen, één fundament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Eigen site, portal en backend; geen Shopify-afhankelijkheid meer.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0" y="178308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202539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01568" y="189280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gents.nl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401568" y="2253996"/>
            <a:ext cx="16824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klant koopt online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977640" y="2651760"/>
            <a:ext cx="0" cy="45720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715000" y="178308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02539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73368" y="189280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Kassa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373368" y="2253996"/>
            <a:ext cx="16824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verkoop in de winkel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949440" y="2651760"/>
            <a:ext cx="0" cy="45720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8686800" y="178308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202539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45168" y="189280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Handscanner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9345168" y="2253996"/>
            <a:ext cx="16824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winkelmedewerker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9921240" y="2651760"/>
            <a:ext cx="0" cy="45720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2743200" y="324612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14300" dist="38100" dir="5400000">
              <a:srgbClr val="16243F">
                <a:alpha val="1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3575304"/>
            <a:ext cx="420624" cy="4206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611880" y="33741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Eén voorraad-core op de centrale database (Neon)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3611880" y="3813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EEA"/>
                </a:solidFill>
              </a:rPr>
              <a:t>Catalogus · orders · voorraad · klanten · audit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40080" y="3246120"/>
            <a:ext cx="1783080" cy="1051560"/>
          </a:xfrm>
          <a:prstGeom prst="roundRect">
            <a:avLst>
              <a:gd name="adj" fmla="val 7826"/>
            </a:avLst>
          </a:prstGeom>
          <a:solidFill>
            <a:srgbClr val="F1E8D6"/>
          </a:solidFill>
          <a:ln w="12700">
            <a:solidFill>
              <a:srgbClr val="B7935A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579876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98448" y="3355848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1298448" y="3808476"/>
            <a:ext cx="9966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magazijn (WMS)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2423160" y="3776472"/>
            <a:ext cx="320040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32" name="Text 24"/>
          <p:cNvSpPr/>
          <p:nvPr/>
        </p:nvSpPr>
        <p:spPr>
          <a:xfrm>
            <a:off x="685800" y="29352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488"/>
                </a:solidFill>
              </a:rPr>
              <a:t>magazijn-voorraad · 3×/dag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6949440" y="4297680"/>
            <a:ext cx="0" cy="41148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640080" y="512064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E3F1EB"/>
          </a:solidFill>
          <a:ln w="12700">
            <a:solidFill>
              <a:srgbClr val="2F8F6B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303520"/>
            <a:ext cx="347472" cy="34747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371600" y="5120640"/>
            <a:ext cx="9994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</a:rPr>
              <a:t>Real-time beschikbaarheid: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site, kassa én scanner zien altijd hetzelfde — nul oversell.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Elk systeem hieronder schrijft naar dezelfde voorraad-core.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bestelling tot levering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De complete weborder-reis — betaling, slimme toewijzing, pick-scan en bezorgen of afhalen.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664208"/>
            <a:ext cx="146304" cy="146304"/>
          </a:xfrm>
          <a:prstGeom prst="ellipse">
            <a:avLst/>
          </a:prstGeom>
          <a:solidFill>
            <a:srgbClr val="31628F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5910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Klant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376172" y="1664208"/>
            <a:ext cx="146304" cy="146304"/>
          </a:xfrm>
          <a:prstGeom prst="ellipse">
            <a:avLst/>
          </a:prstGeom>
          <a:solidFill>
            <a:srgbClr val="16243F"/>
          </a:solidFill>
          <a:ln/>
        </p:spPr>
      </p:sp>
      <p:sp>
        <p:nvSpPr>
          <p:cNvPr id="11" name="Text 8"/>
          <p:cNvSpPr/>
          <p:nvPr/>
        </p:nvSpPr>
        <p:spPr>
          <a:xfrm>
            <a:off x="1577340" y="15910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Systeem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304288" y="1664208"/>
            <a:ext cx="146304" cy="146304"/>
          </a:xfrm>
          <a:prstGeom prst="ellipse">
            <a:avLst/>
          </a:prstGeom>
          <a:solidFill>
            <a:srgbClr val="B7935A"/>
          </a:solidFill>
          <a:ln/>
        </p:spPr>
      </p:sp>
      <p:sp>
        <p:nvSpPr>
          <p:cNvPr id="13" name="Text 10"/>
          <p:cNvSpPr/>
          <p:nvPr/>
        </p:nvSpPr>
        <p:spPr>
          <a:xfrm>
            <a:off x="2505456" y="15910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Winkel / magazijn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31920" y="2926080"/>
            <a:ext cx="493776" cy="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763256" y="2926080"/>
            <a:ext cx="493776" cy="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925812" y="3749040"/>
            <a:ext cx="0" cy="36576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302752" y="4937760"/>
            <a:ext cx="-493776" cy="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471416" y="4937760"/>
            <a:ext cx="-493776" cy="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40080" y="214884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31628F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396" y="2331720"/>
            <a:ext cx="475488" cy="4754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9808" y="286207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Bestellen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68096" y="317296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Klant kiest op gents.nl: bezorgen of afhalen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12064" y="2020824"/>
            <a:ext cx="384048" cy="384048"/>
          </a:xfrm>
          <a:prstGeom prst="ellipse">
            <a:avLst/>
          </a:prstGeom>
          <a:solidFill>
            <a:srgbClr val="31628F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512064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4471416" y="214884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16243F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331720"/>
            <a:ext cx="475488" cy="4754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581144" y="286207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Betalen (Mollie)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599432" y="317296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Betaling → order vastgelegd in de database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343400" y="2020824"/>
            <a:ext cx="384048" cy="38404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434340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8302752" y="214884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16243F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068" y="2331720"/>
            <a:ext cx="475488" cy="4754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412480" y="286207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Slimme toewijzing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8430768" y="317296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Magazijn-eerst, anders winkel — kan splitsen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8174736" y="2020824"/>
            <a:ext cx="384048" cy="38404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8174736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8302752" y="416052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B7935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068" y="4343400"/>
            <a:ext cx="475488" cy="47548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412480" y="487375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+ scan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8430768" y="518464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Handscanner: picken met scan-controle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8174736" y="4032504"/>
            <a:ext cx="384048" cy="384048"/>
          </a:xfrm>
          <a:prstGeom prst="ellipse">
            <a:avLst/>
          </a:prstGeom>
          <a:solidFill>
            <a:srgbClr val="B7935A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8174736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43" name="Shape 36"/>
          <p:cNvSpPr/>
          <p:nvPr/>
        </p:nvSpPr>
        <p:spPr>
          <a:xfrm>
            <a:off x="4471416" y="416052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B7935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6732" y="4343400"/>
            <a:ext cx="475488" cy="47548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4581144" y="487375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Verzenden / afhalen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4599432" y="518464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DHL-label óf klaarzetten in de winkel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4343400" y="4032504"/>
            <a:ext cx="384048" cy="384048"/>
          </a:xfrm>
          <a:prstGeom prst="ellipse">
            <a:avLst/>
          </a:prstGeom>
          <a:solidFill>
            <a:srgbClr val="B7935A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434340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49" name="Shape 41"/>
          <p:cNvSpPr/>
          <p:nvPr/>
        </p:nvSpPr>
        <p:spPr>
          <a:xfrm>
            <a:off x="640080" y="416052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31628F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5396" y="4343400"/>
            <a:ext cx="475488" cy="47548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749808" y="487375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Geleverd</a:t>
            </a:r>
            <a:endParaRPr lang="en-US" sz="1300" dirty="0"/>
          </a:p>
        </p:txBody>
      </p:sp>
      <p:sp>
        <p:nvSpPr>
          <p:cNvPr id="52" name="Text 43"/>
          <p:cNvSpPr/>
          <p:nvPr/>
        </p:nvSpPr>
        <p:spPr>
          <a:xfrm>
            <a:off x="768096" y="518464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Thuis of afgehaald — klaar (of retour)</a:t>
            </a:r>
            <a:endParaRPr lang="en-US" sz="950" dirty="0"/>
          </a:p>
        </p:txBody>
      </p:sp>
      <p:sp>
        <p:nvSpPr>
          <p:cNvPr id="53" name="Shape 44"/>
          <p:cNvSpPr/>
          <p:nvPr/>
        </p:nvSpPr>
        <p:spPr>
          <a:xfrm>
            <a:off x="512064" y="4032504"/>
            <a:ext cx="384048" cy="384048"/>
          </a:xfrm>
          <a:prstGeom prst="ellipse">
            <a:avLst/>
          </a:prstGeom>
          <a:solidFill>
            <a:srgbClr val="31628F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54" name="Text 45"/>
          <p:cNvSpPr/>
          <p:nvPr/>
        </p:nvSpPr>
        <p:spPr>
          <a:xfrm>
            <a:off x="512064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55" name="Text 46"/>
          <p:cNvSpPr/>
          <p:nvPr/>
        </p:nvSpPr>
        <p:spPr>
          <a:xfrm>
            <a:off x="640080" y="5879592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488"/>
                </a:solidFill>
              </a:rPr>
              <a:t>magazijn op voorraad? → magazijn.  Anders → winkel met voorraad.  Niet compleet? → splitsen over meerdere locaties.</a:t>
            </a:r>
            <a:endParaRPr lang="en-US" sz="1000" dirty="0"/>
          </a:p>
        </p:txBody>
      </p:sp>
      <p:sp>
        <p:nvSpPr>
          <p:cNvPr id="56" name="Text 47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Toewijzing leest de voorraad-core; pick-scan en verzending schrijven terug.</a:t>
            </a:r>
            <a:endParaRPr lang="en-US" sz="1000" dirty="0"/>
          </a:p>
        </p:txBody>
      </p:sp>
      <p:sp>
        <p:nvSpPr>
          <p:cNvPr id="57" name="Text 48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Omnichannel — web én winkel, één voorraad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Online en in de winkel schrijven naar dezelfde voorraad; iedereen ziet hetzelfde, direct.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920240"/>
            <a:ext cx="2468880" cy="841248"/>
          </a:xfrm>
          <a:prstGeom prst="roundRect">
            <a:avLst>
              <a:gd name="adj" fmla="val 9783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488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0299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98448" y="237744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klant bestelt op gents.nl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108960" y="2340864"/>
            <a:ext cx="502920" cy="0"/>
          </a:xfrm>
          <a:prstGeom prst="line">
            <a:avLst/>
          </a:prstGeom>
          <a:noFill/>
          <a:ln w="28575">
            <a:solidFill>
              <a:srgbClr val="31628F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611880" y="1920240"/>
            <a:ext cx="2468880" cy="841248"/>
          </a:xfrm>
          <a:prstGeom prst="roundRect">
            <a:avLst>
              <a:gd name="adj" fmla="val 9783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214884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70248" y="20299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Reservering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270248" y="237744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anti-oversell, direct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40080" y="3246120"/>
            <a:ext cx="2468880" cy="841248"/>
          </a:xfrm>
          <a:prstGeom prst="roundRect">
            <a:avLst>
              <a:gd name="adj" fmla="val 9783"/>
            </a:avLst>
          </a:prstGeom>
          <a:solidFill>
            <a:srgbClr val="F1E8D6"/>
          </a:solidFill>
          <a:ln w="12700">
            <a:solidFill>
              <a:srgbClr val="B7935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47472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98448" y="33558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Winkel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298448" y="37033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kassa-verkoop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108960" y="3666744"/>
            <a:ext cx="502920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3611880" y="3246120"/>
            <a:ext cx="2468880" cy="841248"/>
          </a:xfrm>
          <a:prstGeom prst="roundRect">
            <a:avLst>
              <a:gd name="adj" fmla="val 9783"/>
            </a:avLst>
          </a:prstGeom>
          <a:solidFill>
            <a:srgbClr val="F1E8D6"/>
          </a:solidFill>
          <a:ln w="12700">
            <a:solidFill>
              <a:srgbClr val="B7935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184" y="347472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270248" y="33558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Handscanner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270248" y="37033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voorraad-mutaties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080760" y="2340864"/>
            <a:ext cx="1325880" cy="836676"/>
          </a:xfrm>
          <a:prstGeom prst="line">
            <a:avLst/>
          </a:prstGeom>
          <a:noFill/>
          <a:ln w="28575">
            <a:solidFill>
              <a:srgbClr val="31628F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6080760" y="3666744"/>
            <a:ext cx="1325880" cy="-489204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7406640" y="23317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14300" dist="38100" dir="5400000">
              <a:srgbClr val="16243F">
                <a:alpha val="18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2606040"/>
            <a:ext cx="548640" cy="5486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40664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Voorraad-core</a:t>
            </a:r>
            <a:endParaRPr lang="en-US" sz="1800" dirty="0"/>
          </a:p>
        </p:txBody>
      </p:sp>
      <p:sp>
        <p:nvSpPr>
          <p:cNvPr id="31" name="Text 23"/>
          <p:cNvSpPr/>
          <p:nvPr/>
        </p:nvSpPr>
        <p:spPr>
          <a:xfrm>
            <a:off x="740664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DEEA"/>
                </a:solidFill>
              </a:rPr>
              <a:t>één waarheid voor web + winkel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9464040" y="4023360"/>
            <a:ext cx="0" cy="32004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33" name="Shape 25"/>
          <p:cNvSpPr/>
          <p:nvPr/>
        </p:nvSpPr>
        <p:spPr>
          <a:xfrm>
            <a:off x="640080" y="4617720"/>
            <a:ext cx="10908792" cy="749808"/>
          </a:xfrm>
          <a:prstGeom prst="roundRect">
            <a:avLst>
              <a:gd name="adj" fmla="val 10976"/>
            </a:avLst>
          </a:prstGeom>
          <a:solidFill>
            <a:srgbClr val="E3F1EB"/>
          </a:solidFill>
          <a:ln w="12700">
            <a:solidFill>
              <a:srgbClr val="2F8F6B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800600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298448" y="4617720"/>
            <a:ext cx="10122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Site, kassa én scanner tonen dezelfde voorraad — op het moment zelf.</a:t>
            </a:r>
            <a:endParaRPr lang="en-US" sz="1350" dirty="0"/>
          </a:p>
        </p:txBody>
      </p:sp>
      <p:sp>
        <p:nvSpPr>
          <p:cNvPr id="36" name="Shape 27"/>
          <p:cNvSpPr/>
          <p:nvPr/>
        </p:nvSpPr>
        <p:spPr>
          <a:xfrm>
            <a:off x="640080" y="5532120"/>
            <a:ext cx="10908792" cy="566928"/>
          </a:xfrm>
          <a:prstGeom prst="roundRect">
            <a:avLst>
              <a:gd name="adj" fmla="val 14516"/>
            </a:avLst>
          </a:prstGeom>
          <a:solidFill>
            <a:srgbClr val="FBF1DD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" y="5650992"/>
            <a:ext cx="310896" cy="31089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298448" y="5532120"/>
            <a:ext cx="10085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7791F"/>
                </a:solidFill>
              </a:rPr>
              <a:t>Voorbeeld: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twee klanten tegelijk op het laatste pak? De voorraad-lock laat er maar één afrekenen — geen teleurstelling.</a:t>
            </a:r>
            <a:endParaRPr lang="en-US" sz="1150" dirty="0"/>
          </a:p>
        </p:txBody>
      </p:sp>
      <p:sp>
        <p:nvSpPr>
          <p:cNvPr id="39" name="Text 29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Mogelijk doordat alle kanalen op dezelfde core schrijven.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Hoe de voorraad wordt berekend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Eén formule combineert magazijn, kassa en web — minus wat al gereserveerd 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05740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F1E8D6"/>
          </a:solidFill>
          <a:ln w="12700">
            <a:solidFill>
              <a:srgbClr val="B793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216712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Magazijn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8096" y="2619756"/>
            <a:ext cx="1892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SRS-basis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788920" y="20574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291840" y="205740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9856" y="216712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Kassa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419856" y="2619756"/>
            <a:ext cx="1892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winkelverkoop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40680" y="20574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5943600" y="205740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71616" y="216712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071616" y="2619756"/>
            <a:ext cx="1892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online orders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092440" y="20574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4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8595360" y="205740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FBE7E7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23376" y="216712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Reserveringen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723376" y="2619756"/>
            <a:ext cx="1892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vastgehouden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0744200" y="20574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11247120" y="2057400"/>
            <a:ext cx="301752" cy="1051560"/>
          </a:xfrm>
          <a:prstGeom prst="roundRect">
            <a:avLst>
              <a:gd name="adj" fmla="val 30303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14300" dist="38100" dir="5400000">
              <a:srgbClr val="16243F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1247120" y="2258568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BESCHIKBAAR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247120" y="264261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A"/>
                </a:solidFill>
              </a:rPr>
              <a:t>per artikel, per winkel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" y="3611880"/>
            <a:ext cx="339242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867912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508760" y="384962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Altijd actueel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896112" y="44165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8"/>
                </a:solidFill>
              </a:rPr>
              <a:t>Magazijn ververst 3×/dag; kassa- en web-mutaties tellen direct mee.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398264" y="3611880"/>
            <a:ext cx="339242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3867912"/>
            <a:ext cx="457200" cy="4572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266944" y="384962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Anti-oversell</a:t>
            </a:r>
            <a:endParaRPr lang="en-US" sz="1450" dirty="0"/>
          </a:p>
        </p:txBody>
      </p:sp>
      <p:sp>
        <p:nvSpPr>
          <p:cNvPr id="34" name="Text 29"/>
          <p:cNvSpPr/>
          <p:nvPr/>
        </p:nvSpPr>
        <p:spPr>
          <a:xfrm>
            <a:off x="4654296" y="44165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8"/>
                </a:solidFill>
              </a:rPr>
              <a:t>Een reservering trekt het stuk af. Het laatste pak kan maar één keer weg.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8156448" y="3611880"/>
            <a:ext cx="339242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3867912"/>
            <a:ext cx="457200" cy="4572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025128" y="384962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fantoom</a:t>
            </a:r>
            <a:endParaRPr lang="en-US" sz="1450" dirty="0"/>
          </a:p>
        </p:txBody>
      </p:sp>
      <p:sp>
        <p:nvSpPr>
          <p:cNvPr id="38" name="Text 32"/>
          <p:cNvSpPr/>
          <p:nvPr/>
        </p:nvSpPr>
        <p:spPr>
          <a:xfrm>
            <a:off x="8412480" y="44165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8"/>
                </a:solidFill>
              </a:rPr>
              <a:t>Onderweg-voorraad telt pas mee ná de ontvangst-scan (volgende slide).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Deze formule draait in de voorraad-core en voedt site, kassa en scanner.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Goederenontvangst — scan-to-receive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Voorraad telt pas mee ná de scan bij binnenkomst — geen fantoomvoorraad.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148840"/>
            <a:ext cx="23317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50545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25856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Besteld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98448" y="2734056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bij magazijn/leverancier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008376" y="2697480"/>
            <a:ext cx="454152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499104" y="2148840"/>
            <a:ext cx="2331720" cy="1097280"/>
          </a:xfrm>
          <a:prstGeom prst="roundRect">
            <a:avLst>
              <a:gd name="adj" fmla="val 7500"/>
            </a:avLst>
          </a:prstGeom>
          <a:solidFill>
            <a:srgbClr val="FBF1DD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408" y="250545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57472" y="225856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Onderweg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157472" y="2734056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telt NIET mee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773424" y="3355848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18" name="Text 13"/>
          <p:cNvSpPr/>
          <p:nvPr/>
        </p:nvSpPr>
        <p:spPr>
          <a:xfrm>
            <a:off x="3773424" y="3355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anti-fantoom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867400" y="2697480"/>
            <a:ext cx="454152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358128" y="2148840"/>
            <a:ext cx="2331720" cy="1097280"/>
          </a:xfrm>
          <a:prstGeom prst="roundRect">
            <a:avLst>
              <a:gd name="adj" fmla="val 7500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432" y="250545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16496" y="225856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Scannen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16496" y="2734056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bij binnenkomst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632448" y="3355848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31628F"/>
          </a:solidFill>
          <a:ln/>
        </p:spPr>
      </p:sp>
      <p:sp>
        <p:nvSpPr>
          <p:cNvPr id="25" name="Text 19"/>
          <p:cNvSpPr/>
          <p:nvPr/>
        </p:nvSpPr>
        <p:spPr>
          <a:xfrm>
            <a:off x="6632448" y="3355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slimme steekproef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8726424" y="2697480"/>
            <a:ext cx="454152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9217152" y="2148840"/>
            <a:ext cx="2331720" cy="1097280"/>
          </a:xfrm>
          <a:prstGeom prst="roundRect">
            <a:avLst>
              <a:gd name="adj" fmla="val 7500"/>
            </a:avLst>
          </a:prstGeom>
          <a:solidFill>
            <a:srgbClr val="E3F1EB"/>
          </a:solidFill>
          <a:ln w="12700">
            <a:solidFill>
              <a:srgbClr val="2F8F6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2505456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875520" y="225856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Voorraad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9875520" y="2734056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telt NU mee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9491472" y="3355848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2F8F6B"/>
          </a:solidFill>
          <a:ln/>
        </p:spPr>
      </p:sp>
      <p:sp>
        <p:nvSpPr>
          <p:cNvPr id="32" name="Text 25"/>
          <p:cNvSpPr/>
          <p:nvPr/>
        </p:nvSpPr>
        <p:spPr>
          <a:xfrm>
            <a:off x="9491472" y="3355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verkoopbaar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640080" y="4251960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489704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508760" y="4471416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Slimme steekproef (AQL)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896112" y="5020056"/>
            <a:ext cx="47594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Probleemartikelen tellen we altijd; de rest een waarde-gewogen steekproef. Bij te veel afwijkingen → 100% tellen. Het systeem leert per leverancier.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6277356" y="4251960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388" y="4489704"/>
            <a:ext cx="457200" cy="4572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146036" y="4471416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Afwijking → supply chain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6533388" y="5020056"/>
            <a:ext cx="47594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Tekort, teveel of beschadigd? Automatisch een melding + dashboard (nauwkeurigheid per bron/winkel). Beschadigd wordt niet als voorraad geboekt.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Ook winkel→winkel-herverdeling loopt via deze flow, met advies rit of DHL.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Retour — soepel terug, omzet behouden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Klant regelt het zelf; store credit is gratis en houdt de omzet binnen.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28600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31628F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2468880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9992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Aanvragen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in account / retourportal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12064" y="2157984"/>
            <a:ext cx="384048" cy="384048"/>
          </a:xfrm>
          <a:prstGeom prst="ellipse">
            <a:avLst/>
          </a:prstGeom>
          <a:solidFill>
            <a:srgbClr val="31628F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12064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2670048" y="2994660"/>
            <a:ext cx="162306" cy="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868930" y="228600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31628F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882" y="2468880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78658" y="29992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96946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DHL-label of in de winkel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740914" y="2157984"/>
            <a:ext cx="384048" cy="384048"/>
          </a:xfrm>
          <a:prstGeom prst="ellipse">
            <a:avLst/>
          </a:prstGeom>
          <a:solidFill>
            <a:srgbClr val="31628F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2740914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4898898" y="2994660"/>
            <a:ext cx="162306" cy="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097780" y="228600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B7935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2468880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07508" y="29992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Terugsturen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25796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of inleveren in winkel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969764" y="2157984"/>
            <a:ext cx="384048" cy="384048"/>
          </a:xfrm>
          <a:prstGeom prst="ellipse">
            <a:avLst/>
          </a:prstGeom>
          <a:solidFill>
            <a:srgbClr val="B7935A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4969764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7127748" y="2994660"/>
            <a:ext cx="162306" cy="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7326630" y="228600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B7935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5582" y="2468880"/>
            <a:ext cx="475488" cy="4754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36358" y="29992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Retour scannen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454646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winkel/magazijn controleert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7198614" y="2157984"/>
            <a:ext cx="384048" cy="384048"/>
          </a:xfrm>
          <a:prstGeom prst="ellipse">
            <a:avLst/>
          </a:prstGeom>
          <a:solidFill>
            <a:srgbClr val="B7935A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7198614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9356598" y="2994660"/>
            <a:ext cx="162306" cy="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9555480" y="228600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16243F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2468880"/>
            <a:ext cx="475488" cy="4754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665208" y="29992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Terugbetalen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9683496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geld terug óf store credit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9427464" y="2157984"/>
            <a:ext cx="384048" cy="38404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9427464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Shape 34"/>
          <p:cNvSpPr/>
          <p:nvPr/>
        </p:nvSpPr>
        <p:spPr>
          <a:xfrm>
            <a:off x="640080" y="4297680"/>
            <a:ext cx="5271516" cy="1371600"/>
          </a:xfrm>
          <a:prstGeom prst="roundRect">
            <a:avLst>
              <a:gd name="adj" fmla="val 5333"/>
            </a:avLst>
          </a:prstGeom>
          <a:solidFill>
            <a:srgbClr val="E3F1EB"/>
          </a:solidFill>
          <a:ln w="12700">
            <a:solidFill>
              <a:srgbClr val="2F8F6B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4535424"/>
            <a:ext cx="457200" cy="4572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508760" y="4517136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credit = gratis + voordeel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896112" y="5065776"/>
            <a:ext cx="4759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8"/>
                </a:solidFill>
              </a:rPr>
              <a:t>Direct uitgekeerd, geen retourkosten, vaak met een extraatje — de klant blijft klant en de omzet blijft binnen.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6277356" y="4297680"/>
            <a:ext cx="527151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3388" y="4535424"/>
            <a:ext cx="457200" cy="45720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146036" y="4517136"/>
            <a:ext cx="3899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Voorraad meteen terug</a:t>
            </a:r>
            <a:endParaRPr lang="en-US" sz="1400" dirty="0"/>
          </a:p>
        </p:txBody>
      </p:sp>
      <p:sp>
        <p:nvSpPr>
          <p:cNvPr id="49" name="Text 39"/>
          <p:cNvSpPr/>
          <p:nvPr/>
        </p:nvSpPr>
        <p:spPr>
          <a:xfrm>
            <a:off x="6533388" y="5065776"/>
            <a:ext cx="43936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8"/>
                </a:solidFill>
              </a:rPr>
              <a:t>Een goedgekeurde retour komt direct weer beschikbaar in de voorraad-core — verkoopbaar via web én winkel.</a:t>
            </a:r>
            <a:endParaRPr lang="en-US" sz="1100" dirty="0"/>
          </a:p>
        </p:txBody>
      </p:sp>
      <p:sp>
        <p:nvSpPr>
          <p:cNvPr id="50" name="Text 40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Retourredenen en -percentages komen terug in het portal-dashboard.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nieuwe website — gents.nl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Een volledig eigen webshop: sneller, op maat en gekoppeld aan de winkel.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16243F"/>
            </a:solidFill>
            <a:prstDash val="solid"/>
          </a:ln>
          <a:effectLst>
            <a:outerShdw sx="100000" sy="100000" kx="0" ky="0" algn="bl" rotWithShape="0" blurRad="139700" dist="50800" dir="5400000">
              <a:srgbClr val="16243F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1801368"/>
            <a:ext cx="5449824" cy="310896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10" name="Shape 7"/>
          <p:cNvSpPr/>
          <p:nvPr/>
        </p:nvSpPr>
        <p:spPr>
          <a:xfrm>
            <a:off x="786384" y="1901952"/>
            <a:ext cx="109728" cy="109728"/>
          </a:xfrm>
          <a:prstGeom prst="ellipse">
            <a:avLst/>
          </a:prstGeom>
          <a:solidFill>
            <a:srgbClr val="E06C5E"/>
          </a:solidFill>
          <a:ln/>
        </p:spPr>
      </p:sp>
      <p:sp>
        <p:nvSpPr>
          <p:cNvPr id="11" name="Shape 8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E0B23E"/>
          </a:solidFill>
          <a:ln/>
        </p:spPr>
      </p:sp>
      <p:sp>
        <p:nvSpPr>
          <p:cNvPr id="12" name="Shape 9"/>
          <p:cNvSpPr/>
          <p:nvPr/>
        </p:nvSpPr>
        <p:spPr>
          <a:xfrm>
            <a:off x="1152144" y="1901952"/>
            <a:ext cx="109728" cy="109728"/>
          </a:xfrm>
          <a:prstGeom prst="ellipse">
            <a:avLst/>
          </a:prstGeom>
          <a:solidFill>
            <a:srgbClr val="5FBF6B"/>
          </a:solidFill>
          <a:ln/>
        </p:spPr>
      </p:sp>
      <p:sp>
        <p:nvSpPr>
          <p:cNvPr id="13" name="Shape 10"/>
          <p:cNvSpPr/>
          <p:nvPr/>
        </p:nvSpPr>
        <p:spPr>
          <a:xfrm>
            <a:off x="1417320" y="1865376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08760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488"/>
                </a:solidFill>
              </a:rPr>
              <a:t>gents.nl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841248" y="2313432"/>
            <a:ext cx="2286000" cy="3429000"/>
          </a:xfrm>
          <a:prstGeom prst="roundRect">
            <a:avLst>
              <a:gd name="adj" fmla="val 2000"/>
            </a:avLst>
          </a:prstGeom>
          <a:solidFill>
            <a:srgbClr val="E7ECF3"/>
          </a:solidFill>
          <a:ln w="9525">
            <a:solidFill>
              <a:srgbClr val="D6DEE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3319272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10128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GENTS — Pak navy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10128" y="2679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935A"/>
                </a:solidFill>
              </a:rPr>
              <a:t>€ 299,-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310128" y="3090672"/>
            <a:ext cx="4114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10128" y="30906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46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813048" y="3090672"/>
            <a:ext cx="4114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13048" y="30906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48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315968" y="3090672"/>
            <a:ext cx="411480" cy="292608"/>
          </a:xfrm>
          <a:prstGeom prst="roundRect">
            <a:avLst>
              <a:gd name="adj" fmla="val 15625"/>
            </a:avLst>
          </a:prstGeom>
          <a:solidFill>
            <a:srgbClr val="16243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315968" y="30906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50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818888" y="3090672"/>
            <a:ext cx="4114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18888" y="30906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52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321808" y="3090672"/>
            <a:ext cx="4114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321808" y="30906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54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310128" y="3547872"/>
            <a:ext cx="2606040" cy="365760"/>
          </a:xfrm>
          <a:prstGeom prst="roundRect">
            <a:avLst>
              <a:gd name="adj" fmla="val 15000"/>
            </a:avLst>
          </a:prstGeom>
          <a:solidFill>
            <a:srgbClr val="16243F"/>
          </a:solidFill>
          <a:ln/>
        </p:spPr>
      </p:sp>
      <p:sp>
        <p:nvSpPr>
          <p:cNvPr id="30" name="Text 26"/>
          <p:cNvSpPr/>
          <p:nvPr/>
        </p:nvSpPr>
        <p:spPr>
          <a:xfrm>
            <a:off x="3310128" y="35478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 winkelwagen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3310128" y="40507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488"/>
                </a:solidFill>
              </a:rPr>
              <a:t>Maak de look compleet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310128" y="434340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E7ECF3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950208" y="434340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E7ECF3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590288" y="434340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E7ECF3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83680" y="1874520"/>
            <a:ext cx="496519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Maatadvies + pak-samensteller (los colbert/broek/gilet, één prijs)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Shop-the-look: complete looks per gelegenheid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Eerlijke social-proof uit eigen data — geen verzonnen cijfers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Klant-account (magic-link): web- én winkel-historie samen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Checkout met Mollie, vouchers, cadeaubonnen, zakelijk bestellen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Reviews, AI-stijlgids-blog en meertalig (NL/EN/DE)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Toont live de voorraad uit de core en de winkel-historie uit de kassa.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nieuwe kassa-software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Onze eigen kassa — minder afhankelijk van SRS, alle omzet in één bron.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16243F"/>
            </a:solidFill>
            <a:prstDash val="solid"/>
          </a:ln>
          <a:effectLst>
            <a:outerShdw sx="100000" sy="100000" kx="0" ky="0" algn="bl" rotWithShape="0" blurRad="139700" dist="50800" dir="5400000">
              <a:srgbClr val="16243F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1801368"/>
            <a:ext cx="5449824" cy="310896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10" name="Shape 7"/>
          <p:cNvSpPr/>
          <p:nvPr/>
        </p:nvSpPr>
        <p:spPr>
          <a:xfrm>
            <a:off x="786384" y="1901952"/>
            <a:ext cx="109728" cy="109728"/>
          </a:xfrm>
          <a:prstGeom prst="ellipse">
            <a:avLst/>
          </a:prstGeom>
          <a:solidFill>
            <a:srgbClr val="E06C5E"/>
          </a:solidFill>
          <a:ln/>
        </p:spPr>
      </p:sp>
      <p:sp>
        <p:nvSpPr>
          <p:cNvPr id="11" name="Shape 8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E0B23E"/>
          </a:solidFill>
          <a:ln/>
        </p:spPr>
      </p:sp>
      <p:sp>
        <p:nvSpPr>
          <p:cNvPr id="12" name="Shape 9"/>
          <p:cNvSpPr/>
          <p:nvPr/>
        </p:nvSpPr>
        <p:spPr>
          <a:xfrm>
            <a:off x="1152144" y="1901952"/>
            <a:ext cx="109728" cy="109728"/>
          </a:xfrm>
          <a:prstGeom prst="ellipse">
            <a:avLst/>
          </a:prstGeom>
          <a:solidFill>
            <a:srgbClr val="5FBF6B"/>
          </a:solidFill>
          <a:ln/>
        </p:spPr>
      </p:sp>
      <p:sp>
        <p:nvSpPr>
          <p:cNvPr id="13" name="Shape 10"/>
          <p:cNvSpPr/>
          <p:nvPr/>
        </p:nvSpPr>
        <p:spPr>
          <a:xfrm>
            <a:off x="1417320" y="1865376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08760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488"/>
                </a:solidFill>
              </a:rPr>
              <a:t>kassa · GENTS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41248" y="2267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488"/>
                </a:solidFill>
              </a:rPr>
              <a:t>Mandje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41248" y="2587752"/>
            <a:ext cx="29260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932688" y="2587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Pak navy — 50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035808" y="25877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€ 299,-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41248" y="3044952"/>
            <a:ext cx="2926080" cy="3840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0" name="Text 17"/>
          <p:cNvSpPr/>
          <p:nvPr/>
        </p:nvSpPr>
        <p:spPr>
          <a:xfrm>
            <a:off x="932688" y="3044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Overhemd wit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035808" y="30449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€ 59,-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41248" y="3502152"/>
            <a:ext cx="29260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932688" y="3502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Stropdas zijde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035808" y="35021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€ 39,-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41248" y="4050792"/>
            <a:ext cx="292608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2688" y="4096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Totaal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441448" y="40965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€ 397,-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41248" y="4553712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2F8F6B"/>
          </a:solidFill>
          <a:ln/>
        </p:spPr>
      </p:sp>
      <p:sp>
        <p:nvSpPr>
          <p:cNvPr id="29" name="Text 26"/>
          <p:cNvSpPr/>
          <p:nvPr/>
        </p:nvSpPr>
        <p:spPr>
          <a:xfrm>
            <a:off x="841248" y="4553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Afrekenen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950208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Klant koppelen · korting · cadeaubon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950208" y="2770632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01768" y="2770632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950208" y="333756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01768" y="333756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950208" y="3904488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01768" y="3904488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83680" y="1874520"/>
            <a:ext cx="496519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Verkopen draaien nu op de eigen database — real-time omzet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Betaalmethoden, kortingen, cadeaubonnen, loyalty, klant-koppeling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Bestel voor klant uit ander filiaal · concept · parkeren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Dagafsluiting met BTW-uitsplitsing — fiscaal sluitend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Idempotent: nooit dubbel boeken, ook bij haperingen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Kaartdata blijft bij de pinterminal — geen PCI-risico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Schrijft naar dezelfde voorraad-core en klant-database als de webshop.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handscanner — één app voor de winkel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Alle winkeltaken op één apparaat: orders, voorraad, ontvangst en herverdeling.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8720" y="17373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9050">
            <a:solidFill>
              <a:srgbClr val="16243F"/>
            </a:solidFill>
            <a:prstDash val="solid"/>
          </a:ln>
          <a:effectLst>
            <a:outerShdw sx="100000" sy="100000" kx="0" ky="0" algn="bl" rotWithShape="0" blurRad="139700" dist="50800" dir="5400000">
              <a:srgbClr val="16243F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07008" y="1755648"/>
            <a:ext cx="2660904" cy="310896"/>
          </a:xfrm>
          <a:prstGeom prst="rect">
            <a:avLst/>
          </a:prstGeom>
          <a:solidFill>
            <a:srgbClr val="16243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1810512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72768" y="17739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GENTS scanner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1344168" y="2176272"/>
            <a:ext cx="238658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426464" y="22768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F2F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233172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47088" y="2176272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F"/>
                </a:solidFill>
              </a:rPr>
              <a:t>Orders picken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1344168" y="2779776"/>
            <a:ext cx="238658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426464" y="28803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F2F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2935224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47088" y="2779776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F"/>
                </a:solidFill>
              </a:rPr>
              <a:t>Voorraad checken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1344168" y="3383280"/>
            <a:ext cx="238658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426464" y="34838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F2F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3538728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47088" y="3383280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F"/>
                </a:solidFill>
              </a:rPr>
              <a:t>Inventariseren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1344168" y="3986784"/>
            <a:ext cx="238658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426464" y="40873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F2F8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4142232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847088" y="3986784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F"/>
                </a:solidFill>
              </a:rPr>
              <a:t>Levering binnenmelden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1344168" y="4590288"/>
            <a:ext cx="238658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1426464" y="46908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F2F8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328" y="4745736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847088" y="4590288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F"/>
                </a:solidFill>
              </a:rPr>
              <a:t>Naar andere winkel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1344168" y="5193792"/>
            <a:ext cx="238658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1426464" y="5294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F2F8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1328" y="5349240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847088" y="5193792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F"/>
                </a:solidFill>
              </a:rPr>
              <a:t>Klantorder / reserveren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4389120" y="1828800"/>
            <a:ext cx="715975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Orders picken (web + afhaal) met urgentie en scan-controle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Voorraad checken: eigen winkel, magazijn én andere winkels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Inventariseren: tellen vs systeem, verschillen direct verwerken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Levering binnenmelden: scannen → pas dán voorraad (anti-fantoom)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Naar andere winkel sturen: herverdeling + advies rit of DHL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Klantorder / reserveren + schade melden — alles via scannen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Werkt op dezelfde voorraad-core; ontvangst boekt pas bij de scan.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portal — kantoor- en winkelbrein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Eén plek waar het team álles beheert — zonder developer.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58521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16243F"/>
            </a:solidFill>
            <a:prstDash val="solid"/>
          </a:ln>
          <a:effectLst>
            <a:outerShdw sx="100000" sy="100000" kx="0" ky="0" algn="bl" rotWithShape="0" blurRad="139700" dist="50800" dir="5400000">
              <a:srgbClr val="16243F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1801368"/>
            <a:ext cx="5815584" cy="310896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10" name="Shape 7"/>
          <p:cNvSpPr/>
          <p:nvPr/>
        </p:nvSpPr>
        <p:spPr>
          <a:xfrm>
            <a:off x="786384" y="1901952"/>
            <a:ext cx="109728" cy="109728"/>
          </a:xfrm>
          <a:prstGeom prst="ellipse">
            <a:avLst/>
          </a:prstGeom>
          <a:solidFill>
            <a:srgbClr val="E06C5E"/>
          </a:solidFill>
          <a:ln/>
        </p:spPr>
      </p:sp>
      <p:sp>
        <p:nvSpPr>
          <p:cNvPr id="11" name="Shape 8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E0B23E"/>
          </a:solidFill>
          <a:ln/>
        </p:spPr>
      </p:sp>
      <p:sp>
        <p:nvSpPr>
          <p:cNvPr id="12" name="Shape 9"/>
          <p:cNvSpPr/>
          <p:nvPr/>
        </p:nvSpPr>
        <p:spPr>
          <a:xfrm>
            <a:off x="1152144" y="1901952"/>
            <a:ext cx="109728" cy="109728"/>
          </a:xfrm>
          <a:prstGeom prst="ellipse">
            <a:avLst/>
          </a:prstGeom>
          <a:solidFill>
            <a:srgbClr val="5FBF6B"/>
          </a:solidFill>
          <a:ln/>
        </p:spPr>
      </p:sp>
      <p:sp>
        <p:nvSpPr>
          <p:cNvPr id="13" name="Shape 10"/>
          <p:cNvSpPr/>
          <p:nvPr/>
        </p:nvSpPr>
        <p:spPr>
          <a:xfrm>
            <a:off x="1417320" y="1865376"/>
            <a:ext cx="48463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08760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488"/>
                </a:solidFill>
              </a:rPr>
              <a:t>gents.nl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49808" y="2221992"/>
            <a:ext cx="1371600" cy="3611880"/>
          </a:xfrm>
          <a:prstGeom prst="rect">
            <a:avLst/>
          </a:prstGeom>
          <a:solidFill>
            <a:srgbClr val="16243F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23865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935A"/>
                </a:solidFill>
              </a:rPr>
              <a:t>Dashboard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14400" y="27706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3E2"/>
                </a:solidFill>
              </a:rPr>
              <a:t>Orders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14400" y="31546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3E2"/>
                </a:solidFill>
              </a:rPr>
              <a:t>Klanten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14400" y="35387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3E2"/>
                </a:solidFill>
              </a:rPr>
              <a:t>Voorraad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14400" y="392277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3E2"/>
                </a:solidFill>
              </a:rPr>
              <a:t>Nieuwe site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14400" y="430682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3E2"/>
                </a:solidFill>
              </a:rPr>
              <a:t>Marketing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14400" y="46908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3E2"/>
                </a:solidFill>
              </a:rPr>
              <a:t>Instellingen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304288" y="2313432"/>
            <a:ext cx="1856232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41448" y="242316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€ 12.480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441448" y="278892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Omzet vandaag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343400" y="2313432"/>
            <a:ext cx="1856232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80560" y="242316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480560" y="278892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Open orders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304288" y="3227832"/>
            <a:ext cx="1856232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441448" y="333756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6,2%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2441448" y="370332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Retour-%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343400" y="3227832"/>
            <a:ext cx="1856232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D6DE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80560" y="333756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€ 1,4 mln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480560" y="370332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Voorraad-waarde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304288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488"/>
                </a:solidFill>
              </a:rPr>
              <a:t>Omzet per week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304288" y="4965192"/>
            <a:ext cx="274320" cy="457200"/>
          </a:xfrm>
          <a:prstGeom prst="rect">
            <a:avLst/>
          </a:prstGeom>
          <a:solidFill>
            <a:srgbClr val="21345A"/>
          </a:solidFill>
          <a:ln/>
        </p:spPr>
      </p:sp>
      <p:sp>
        <p:nvSpPr>
          <p:cNvPr id="37" name="Shape 34"/>
          <p:cNvSpPr/>
          <p:nvPr/>
        </p:nvSpPr>
        <p:spPr>
          <a:xfrm>
            <a:off x="2688336" y="4690872"/>
            <a:ext cx="274320" cy="731520"/>
          </a:xfrm>
          <a:prstGeom prst="rect">
            <a:avLst/>
          </a:prstGeom>
          <a:solidFill>
            <a:srgbClr val="21345A"/>
          </a:solidFill>
          <a:ln/>
        </p:spPr>
      </p:sp>
      <p:sp>
        <p:nvSpPr>
          <p:cNvPr id="38" name="Shape 35"/>
          <p:cNvSpPr/>
          <p:nvPr/>
        </p:nvSpPr>
        <p:spPr>
          <a:xfrm>
            <a:off x="3072384" y="4828032"/>
            <a:ext cx="274320" cy="594360"/>
          </a:xfrm>
          <a:prstGeom prst="rect">
            <a:avLst/>
          </a:prstGeom>
          <a:solidFill>
            <a:srgbClr val="21345A"/>
          </a:solidFill>
          <a:ln/>
        </p:spPr>
      </p:sp>
      <p:sp>
        <p:nvSpPr>
          <p:cNvPr id="39" name="Shape 36"/>
          <p:cNvSpPr/>
          <p:nvPr/>
        </p:nvSpPr>
        <p:spPr>
          <a:xfrm>
            <a:off x="3456432" y="4507992"/>
            <a:ext cx="274320" cy="914400"/>
          </a:xfrm>
          <a:prstGeom prst="rect">
            <a:avLst/>
          </a:prstGeom>
          <a:solidFill>
            <a:srgbClr val="21345A"/>
          </a:solidFill>
          <a:ln/>
        </p:spPr>
      </p:sp>
      <p:sp>
        <p:nvSpPr>
          <p:cNvPr id="40" name="Shape 37"/>
          <p:cNvSpPr/>
          <p:nvPr/>
        </p:nvSpPr>
        <p:spPr>
          <a:xfrm>
            <a:off x="3840480" y="4599432"/>
            <a:ext cx="274320" cy="822960"/>
          </a:xfrm>
          <a:prstGeom prst="rect">
            <a:avLst/>
          </a:prstGeom>
          <a:solidFill>
            <a:srgbClr val="21345A"/>
          </a:solidFill>
          <a:ln/>
        </p:spPr>
      </p:sp>
      <p:sp>
        <p:nvSpPr>
          <p:cNvPr id="41" name="Shape 38"/>
          <p:cNvSpPr/>
          <p:nvPr/>
        </p:nvSpPr>
        <p:spPr>
          <a:xfrm>
            <a:off x="4224528" y="4370832"/>
            <a:ext cx="274320" cy="1051560"/>
          </a:xfrm>
          <a:prstGeom prst="rect">
            <a:avLst/>
          </a:prstGeom>
          <a:solidFill>
            <a:srgbClr val="B7935A"/>
          </a:solidFill>
          <a:ln/>
        </p:spPr>
      </p:sp>
      <p:sp>
        <p:nvSpPr>
          <p:cNvPr id="42" name="Shape 39"/>
          <p:cNvSpPr/>
          <p:nvPr/>
        </p:nvSpPr>
        <p:spPr>
          <a:xfrm>
            <a:off x="4608576" y="4553712"/>
            <a:ext cx="274320" cy="868680"/>
          </a:xfrm>
          <a:prstGeom prst="rect">
            <a:avLst/>
          </a:prstGeom>
          <a:solidFill>
            <a:srgbClr val="21345A"/>
          </a:solidFill>
          <a:ln/>
        </p:spPr>
      </p:sp>
      <p:sp>
        <p:nvSpPr>
          <p:cNvPr id="43" name="Text 40"/>
          <p:cNvSpPr/>
          <p:nvPr/>
        </p:nvSpPr>
        <p:spPr>
          <a:xfrm>
            <a:off x="6949440" y="1874520"/>
            <a:ext cx="459943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Orders, retouren en niet-leverbaar real-time volgen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Klanten beheren: zoeken, segmenteren, loyalty en deals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Voorraad, inkoop, ritten en herverdeling coördineren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Webshop zelf instellen: verzending, cutoffs, kortingen, KPI's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Marketing, content en SEO in eigen hand (met AI)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Rapportages, eigen dashboards en exports · rechten per rol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Praat veilig via een beveiligde tussenlaag met de backend (zie veiligheid).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Slimme &amp; AI-functies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AI door de hele keten: minder handwerk, betere content, slimmere beslissingen.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339242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F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2002536"/>
            <a:ext cx="548640" cy="548640"/>
          </a:xfrm>
          <a:prstGeom prst="ellipse">
            <a:avLst/>
          </a:prstGeom>
          <a:solidFill>
            <a:srgbClr val="16243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13969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19659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Review-samenvattingen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508760" y="240487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AI vat echte reviews samen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398264" y="1783080"/>
            <a:ext cx="339242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F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99432" y="2002536"/>
            <a:ext cx="548640" cy="548640"/>
          </a:xfrm>
          <a:prstGeom prst="ellipse">
            <a:avLst/>
          </a:prstGeom>
          <a:solidFill>
            <a:srgbClr val="16243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13969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66944" y="19659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Productteksten + SEO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266944" y="240487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on-brand, alleen op feiten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156448" y="1783080"/>
            <a:ext cx="339242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F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57616" y="2002536"/>
            <a:ext cx="548640" cy="548640"/>
          </a:xfrm>
          <a:prstGeom prst="ellipse">
            <a:avLst/>
          </a:prstGeom>
          <a:solidFill>
            <a:srgbClr val="16243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213969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25128" y="19659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Klantinzichten voor MT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025128" y="240487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kansen/risico's, geen PII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40080" y="3264408"/>
            <a:ext cx="339242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F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1248" y="3483864"/>
            <a:ext cx="548640" cy="548640"/>
          </a:xfrm>
          <a:prstGeom prst="ellipse">
            <a:avLst/>
          </a:prstGeom>
          <a:solidFill>
            <a:srgbClr val="16243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3621024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3447288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AI-stijlgids / blog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508760" y="388620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automatisch, echte producten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398264" y="3264408"/>
            <a:ext cx="339242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F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599432" y="3483864"/>
            <a:ext cx="548640" cy="548640"/>
          </a:xfrm>
          <a:prstGeom prst="ellipse">
            <a:avLst/>
          </a:prstGeom>
          <a:solidFill>
            <a:srgbClr val="16243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621024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66944" y="3447288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Lerende beeld-studio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5266944" y="388620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leert van afkeuren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8156448" y="3264408"/>
            <a:ext cx="339242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F">
                <a:alpha val="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357616" y="3483864"/>
            <a:ext cx="548640" cy="548640"/>
          </a:xfrm>
          <a:prstGeom prst="ellipse">
            <a:avLst/>
          </a:prstGeom>
          <a:solidFill>
            <a:srgbClr val="16243F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76" y="3621024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025128" y="3447288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Maatadvies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9025128" y="388620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voorfilter op jouw maat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640080" y="4745736"/>
            <a:ext cx="339242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F">
                <a:alpha val="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841248" y="4965192"/>
            <a:ext cx="548640" cy="548640"/>
          </a:xfrm>
          <a:prstGeom prst="ellipse">
            <a:avLst/>
          </a:prstGeom>
          <a:solidFill>
            <a:srgbClr val="16243F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408" y="5102352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508760" y="4928616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MixMatch pak-samensteller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1508760" y="536752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los → compleet pak, hogere AOV</a:t>
            </a:r>
            <a:endParaRPr 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4398264" y="4745736"/>
            <a:ext cx="339242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F">
                <a:alpha val="8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4599432" y="4965192"/>
            <a:ext cx="548640" cy="548640"/>
          </a:xfrm>
          <a:prstGeom prst="ellipse">
            <a:avLst/>
          </a:prstGeom>
          <a:solidFill>
            <a:srgbClr val="16243F"/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592" y="5102352"/>
            <a:ext cx="274320" cy="27432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266944" y="4928616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Manco-steekproef</a:t>
            </a:r>
            <a:endParaRPr lang="en-US" sz="1250" dirty="0"/>
          </a:p>
        </p:txBody>
      </p:sp>
      <p:sp>
        <p:nvSpPr>
          <p:cNvPr id="47" name="Text 36"/>
          <p:cNvSpPr/>
          <p:nvPr/>
        </p:nvSpPr>
        <p:spPr>
          <a:xfrm>
            <a:off x="5266944" y="536752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gericht controleren bij inkoop</a:t>
            </a:r>
            <a:endParaRPr lang="en-US" sz="950" dirty="0"/>
          </a:p>
        </p:txBody>
      </p:sp>
      <p:sp>
        <p:nvSpPr>
          <p:cNvPr id="48" name="Shape 37"/>
          <p:cNvSpPr/>
          <p:nvPr/>
        </p:nvSpPr>
        <p:spPr>
          <a:xfrm>
            <a:off x="8156448" y="4745736"/>
            <a:ext cx="339242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F">
                <a:alpha val="8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8357616" y="4965192"/>
            <a:ext cx="548640" cy="548640"/>
          </a:xfrm>
          <a:prstGeom prst="ellipse">
            <a:avLst/>
          </a:prstGeom>
          <a:solidFill>
            <a:srgbClr val="16243F"/>
          </a:solidFill>
          <a:ln/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4776" y="5102352"/>
            <a:ext cx="274320" cy="27432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9025128" y="4928616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Verzendadvies rit/DHL</a:t>
            </a:r>
            <a:endParaRPr lang="en-US" sz="1250" dirty="0"/>
          </a:p>
        </p:txBody>
      </p:sp>
      <p:sp>
        <p:nvSpPr>
          <p:cNvPr id="52" name="Text 40"/>
          <p:cNvSpPr/>
          <p:nvPr/>
        </p:nvSpPr>
        <p:spPr>
          <a:xfrm>
            <a:off x="9025128" y="536752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goedkoopste passende route</a:t>
            </a:r>
            <a:endParaRPr lang="en-US" sz="950" dirty="0"/>
          </a:p>
        </p:txBody>
      </p:sp>
      <p:sp>
        <p:nvSpPr>
          <p:cNvPr id="53" name="Text 41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De AI-lagen voeden de productpagina's, het dashboard, de blog en de inkoop.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Backup, veiligheid &amp; betrouwbaarheid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Klantdata veilig, geen platform-risico, en niets valt om bij een storing.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3392424" cy="365760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016252" y="2103120"/>
            <a:ext cx="640080" cy="640080"/>
          </a:xfrm>
          <a:prstGeom prst="ellipse">
            <a:avLst/>
          </a:prstGeom>
          <a:solidFill>
            <a:srgbClr val="16243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22585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27889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Veiligheid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14400" y="3291840"/>
            <a:ext cx="28437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Identiteit ondertekend (HMAC) — geen spoofing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Geheimen nooit in de URL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Webhooks &amp; crons fail-closed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Rate-limiting + audit op klantdata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98264" y="1828800"/>
            <a:ext cx="3392424" cy="365760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74436" y="2103120"/>
            <a:ext cx="640080" cy="640080"/>
          </a:xfrm>
          <a:prstGeom prst="ellipse">
            <a:avLst/>
          </a:prstGeom>
          <a:solidFill>
            <a:srgbClr val="16243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22585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98264" y="27889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Betrouwbaarheid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72584" y="3291840"/>
            <a:ext cx="28437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Idempotent: nooit dubbel geboekt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Anti-oversell op één database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Fail-soft: SRS-storing breekt niets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Eén transactionele bron van waarheid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156448" y="1828800"/>
            <a:ext cx="3392424" cy="365760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532620" y="2103120"/>
            <a:ext cx="640080" cy="640080"/>
          </a:xfrm>
          <a:prstGeom prst="ellipse">
            <a:avLst/>
          </a:prstGeom>
          <a:solidFill>
            <a:srgbClr val="16243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068" y="225856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56448" y="27889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&amp; privacy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430768" y="3291840"/>
            <a:ext cx="28437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Dagelijkse off-site backup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Herstel-knop in de back-office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AVG: export &amp; verwijder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Multi-agent security-audit gedaan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Beveiliging zit in beide systemen; audit-logs maken misbruik traceerbaar.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kost het platform per maand?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Lage vaste softwarekosten; de rest schaalt netjes mee met de verkoop.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339242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96112" y="2039112"/>
            <a:ext cx="566928" cy="566928"/>
          </a:xfrm>
          <a:prstGeom prst="ellipse">
            <a:avLst/>
          </a:prstGeom>
          <a:solidFill>
            <a:srgbClr val="31628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17627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72768" y="2020824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72768" y="2350008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software-abonnementen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96112" y="2770632"/>
            <a:ext cx="288036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96112" y="288036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Vercel — hosting (3 projecten)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072384" y="288036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€ 37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96112" y="324612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SendCloud — verzendlabels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072384" y="324612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€ 87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96112" y="36118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Resend — e-mail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072384" y="361188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€ 19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96112" y="397764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Domein + overige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072384" y="397764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€ 12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22960" y="4142232"/>
            <a:ext cx="3026664" cy="658368"/>
          </a:xfrm>
          <a:prstGeom prst="roundRect">
            <a:avLst>
              <a:gd name="adj" fmla="val 9722"/>
            </a:avLst>
          </a:prstGeom>
          <a:solidFill>
            <a:srgbClr val="E5EEF6"/>
          </a:solidFill>
          <a:ln/>
        </p:spPr>
      </p:sp>
      <p:sp>
        <p:nvSpPr>
          <p:cNvPr id="23" name="Text 19"/>
          <p:cNvSpPr/>
          <p:nvPr/>
        </p:nvSpPr>
        <p:spPr>
          <a:xfrm>
            <a:off x="987552" y="41788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 € 155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987552" y="45628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bandbreedte € 67–303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398264" y="1783080"/>
            <a:ext cx="339242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654296" y="2039112"/>
            <a:ext cx="566928" cy="566928"/>
          </a:xfrm>
          <a:prstGeom prst="ellipse">
            <a:avLst/>
          </a:prstGeom>
          <a:solidFill>
            <a:srgbClr val="B7935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176272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30952" y="2020824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Variabel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5330952" y="2350008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schaalt met de verkoop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654296" y="2770632"/>
            <a:ext cx="288036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654296" y="288036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Mollie — betaalverwerking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830568" y="288036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€ 610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654296" y="324612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Neon — database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830568" y="324612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€ 33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4654296" y="36118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Vercel Blob — opslag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6830568" y="361188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€ 3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4654296" y="397764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Claude — AI-functies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830568" y="397764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€ 2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4581144" y="4142232"/>
            <a:ext cx="3026664" cy="658368"/>
          </a:xfrm>
          <a:prstGeom prst="roundRect">
            <a:avLst>
              <a:gd name="adj" fmla="val 9722"/>
            </a:avLst>
          </a:prstGeom>
          <a:solidFill>
            <a:srgbClr val="F1E8D6"/>
          </a:solidFill>
          <a:ln/>
        </p:spPr>
      </p:sp>
      <p:sp>
        <p:nvSpPr>
          <p:cNvPr id="40" name="Text 35"/>
          <p:cNvSpPr/>
          <p:nvPr/>
        </p:nvSpPr>
        <p:spPr>
          <a:xfrm>
            <a:off x="4745736" y="41788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 € 650</a:t>
            </a:r>
            <a:endParaRPr lang="en-US" sz="2100" dirty="0"/>
          </a:p>
        </p:txBody>
      </p:sp>
      <p:sp>
        <p:nvSpPr>
          <p:cNvPr id="41" name="Text 36"/>
          <p:cNvSpPr/>
          <p:nvPr/>
        </p:nvSpPr>
        <p:spPr>
          <a:xfrm>
            <a:off x="4745736" y="45628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bij ~750 orders/mnd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8156448" y="1783080"/>
            <a:ext cx="339242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8412480" y="2039112"/>
            <a:ext cx="566928" cy="566928"/>
          </a:xfrm>
          <a:prstGeom prst="ellipse">
            <a:avLst/>
          </a:prstGeom>
          <a:solidFill>
            <a:srgbClr val="2F8F6B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176272"/>
            <a:ext cx="292608" cy="29260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089136" y="2020824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Incidenteel</a:t>
            </a:r>
            <a:endParaRPr lang="en-US" sz="1600" dirty="0"/>
          </a:p>
        </p:txBody>
      </p:sp>
      <p:sp>
        <p:nvSpPr>
          <p:cNvPr id="46" name="Text 40"/>
          <p:cNvSpPr/>
          <p:nvPr/>
        </p:nvSpPr>
        <p:spPr>
          <a:xfrm>
            <a:off x="9089136" y="2350008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per campagne / collectie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8412480" y="2770632"/>
            <a:ext cx="288036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8412480" y="288036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FASHN — AI-modelfoto's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10588752" y="288036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€ 8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8412480" y="324612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FAL — hero-beelden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10588752" y="324612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€ 2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8412480" y="36118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WhatsApp — nu uit</a:t>
            </a:r>
            <a:endParaRPr lang="en-US" sz="1050" dirty="0"/>
          </a:p>
        </p:txBody>
      </p:sp>
      <p:sp>
        <p:nvSpPr>
          <p:cNvPr id="53" name="Text 47"/>
          <p:cNvSpPr/>
          <p:nvPr/>
        </p:nvSpPr>
        <p:spPr>
          <a:xfrm>
            <a:off x="10588752" y="361188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7488"/>
                </a:solidFill>
              </a:rPr>
              <a:t>€ 0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8339328" y="4142232"/>
            <a:ext cx="3026664" cy="658368"/>
          </a:xfrm>
          <a:prstGeom prst="roundRect">
            <a:avLst>
              <a:gd name="adj" fmla="val 9722"/>
            </a:avLst>
          </a:prstGeom>
          <a:solidFill>
            <a:srgbClr val="E3F1EB"/>
          </a:solidFill>
          <a:ln/>
        </p:spPr>
      </p:sp>
      <p:sp>
        <p:nvSpPr>
          <p:cNvPr id="55" name="Text 49"/>
          <p:cNvSpPr/>
          <p:nvPr/>
        </p:nvSpPr>
        <p:spPr>
          <a:xfrm>
            <a:off x="8503920" y="41788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 € 10</a:t>
            </a:r>
            <a:endParaRPr lang="en-US" sz="2100" dirty="0"/>
          </a:p>
        </p:txBody>
      </p:sp>
      <p:sp>
        <p:nvSpPr>
          <p:cNvPr id="56" name="Text 50"/>
          <p:cNvSpPr/>
          <p:nvPr/>
        </p:nvSpPr>
        <p:spPr>
          <a:xfrm>
            <a:off x="8503920" y="45628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gemiddeld per maand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640080" y="521208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14300" dist="38100" dir="5400000">
              <a:srgbClr val="16243F">
                <a:alpha val="16000"/>
              </a:srgbClr>
            </a:outerShdw>
          </a:effectLst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404104"/>
            <a:ext cx="329184" cy="329184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1417320" y="5212080"/>
            <a:ext cx="9902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935A"/>
                </a:solidFill>
              </a:rPr>
              <a:t>Totaal ≈ € 815 / maand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   bij ~750 online orders — waarvan € 610 betaalverwerking (≈ € 0,80/order). Vaste software om álles te draaien: slechts ~€ 155/mnd.</a:t>
            </a:r>
            <a:endParaRPr lang="en-US" sz="1500" dirty="0"/>
          </a:p>
        </p:txBody>
      </p:sp>
      <p:sp>
        <p:nvSpPr>
          <p:cNvPr id="60" name="Text 53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Samenwerking: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Exclusief DHL-porto (verzendkosten ~€3–4k, logistiek/COGS) en advertentiebudget — én géén Shopify-platformfee meer.</a:t>
            </a:r>
            <a:endParaRPr lang="en-US" sz="1000" dirty="0"/>
          </a:p>
        </p:txBody>
      </p:sp>
      <p:sp>
        <p:nvSpPr>
          <p:cNvPr id="61" name="Text 54"/>
          <p:cNvSpPr/>
          <p:nvPr/>
        </p:nvSpPr>
        <p:spPr>
          <a:xfrm>
            <a:off x="9537192" y="6492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vertrouwelijk · 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935A"/>
                </a:solidFill>
              </a:rPr>
              <a:t>De kern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Eén eigen, slim platform — sneller, veiliger en minder afhankelijk.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392424" cy="2286000"/>
          </a:xfrm>
          <a:prstGeom prst="roundRect">
            <a:avLst>
              <a:gd name="adj" fmla="val 3600"/>
            </a:avLst>
          </a:prstGeom>
          <a:solidFill>
            <a:srgbClr val="21345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0358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3611880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Eigen regie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32688" y="4069080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DEEA"/>
                </a:solidFill>
              </a:rPr>
              <a:t>Geen Shopify-lock-in; alles in eigen beheer en zelf instelbaar.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98264" y="2743200"/>
            <a:ext cx="3392424" cy="2286000"/>
          </a:xfrm>
          <a:prstGeom prst="roundRect">
            <a:avLst>
              <a:gd name="adj" fmla="val 3600"/>
            </a:avLst>
          </a:prstGeom>
          <a:solidFill>
            <a:srgbClr val="21345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303580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90872" y="3611880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Slim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90872" y="4069080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DEEA"/>
                </a:solidFill>
              </a:rPr>
              <a:t>AI en automatisering door de hele keten — minder handwerk, meer omzet.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56448" y="2743200"/>
            <a:ext cx="3392424" cy="2286000"/>
          </a:xfrm>
          <a:prstGeom prst="roundRect">
            <a:avLst>
              <a:gd name="adj" fmla="val 3600"/>
            </a:avLst>
          </a:prstGeom>
          <a:solidFill>
            <a:srgbClr val="21345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303580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49056" y="3611880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Betrouwbaar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449056" y="4069080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DEEA"/>
                </a:solidFill>
              </a:rPr>
              <a:t>Anti-oversell, idempotent en beveiligd; niets valt om bij een storing.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349240"/>
            <a:ext cx="10908792" cy="566928"/>
          </a:xfrm>
          <a:prstGeom prst="roundRect">
            <a:avLst>
              <a:gd name="adj" fmla="val 14516"/>
            </a:avLst>
          </a:prstGeom>
          <a:solidFill>
            <a:srgbClr val="1B2E50"/>
          </a:solidFill>
          <a:ln/>
        </p:spPr>
      </p:sp>
      <p:sp>
        <p:nvSpPr>
          <p:cNvPr id="17" name="Text 12"/>
          <p:cNvSpPr/>
          <p:nvPr/>
        </p:nvSpPr>
        <p:spPr>
          <a:xfrm>
            <a:off x="914400" y="534924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935A"/>
                </a:solidFill>
              </a:rPr>
              <a:t>Status: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de kern draait live (test-omgeving). Go-live = enkele schakelaars (Mollie live, indexeren aan).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GENTS — SUITS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GENTS — De nieuwe omnichannel-stack</dc:title>
  <dc:subject>PptxGenJS Presentation</dc:subject>
  <dc:creator>GENTS</dc:creator>
  <cp:lastModifiedBy>GENTS</cp:lastModifiedBy>
  <cp:revision>1</cp:revision>
  <dcterms:created xsi:type="dcterms:W3CDTF">2026-06-29T06:56:29Z</dcterms:created>
  <dcterms:modified xsi:type="dcterms:W3CDTF">2026-06-29T06:56:29Z</dcterms:modified>
</cp:coreProperties>
</file>